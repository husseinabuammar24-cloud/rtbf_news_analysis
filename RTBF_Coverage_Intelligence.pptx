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wide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FAE042" accent2="ED2939" accent3="2E6F9E" accent4="5B8C5A" accent5="8E5A9B" accent6="E07B39" bg1="FFFFFF" bg2="FBF8F1" tx1="1F1F1F" tx2="6B6358" hlink="0563C1" folHlink="954F7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DATA STORY  /  RTBF NEWS ANALYSIS</a:t>
            </a:r>
            <a:endParaRPr lang="en-US" sz="1100"/>
          </a:p>
        </p:txBody>
      </p:sp>
      <p:sp>
        <p:nvSpPr>
          <p:cNvPr id="7" name="Shape"/>
          <p:cNvSpPr/>
          <p:nvPr/>
        </p:nvSpPr>
        <p:spPr>
          <a:xfrm>
            <a:off x="0" y="0"/>
            <a:ext cx="12192000" cy="11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8" name="Shape"/>
          <p:cNvSpPr/>
          <p:nvPr/>
        </p:nvSpPr>
        <p:spPr>
          <a:xfrm>
            <a:off x="0" y="110000"/>
            <a:ext cx="4064000" cy="65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9" name="Shape"/>
          <p:cNvSpPr/>
          <p:nvPr/>
        </p:nvSpPr>
        <p:spPr>
          <a:xfrm>
            <a:off x="4064000" y="110000"/>
            <a:ext cx="4064000" cy="65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0" name="Shape"/>
          <p:cNvSpPr/>
          <p:nvPr/>
        </p:nvSpPr>
        <p:spPr>
          <a:xfrm>
            <a:off x="8128000" y="110000"/>
            <a:ext cx="4064000" cy="65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50000" y="1000000"/>
            <a:ext cx="10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FAE042"/>
                </a:solidFill>
                <a:latin typeface="Aptos"/>
              </a:rPr>
              <a:t xml:space="preserve">BELGIAN NEWS  ·  MULTILINGUAL NLP  ·  EDITORIAL DISCOVERY</a:t>
            </a:r>
            <a:endParaRPr lang="en-US" sz="1200"/>
          </a:p>
        </p:txBody>
      </p:sp>
      <p:sp>
        <p:nvSpPr>
          <p:cNvPr id="12" name="Text"/>
          <p:cNvSpPr txBox="1"/>
          <p:nvPr/>
        </p:nvSpPr>
        <p:spPr>
          <a:xfrm>
            <a:off x="850000" y="1650000"/>
            <a:ext cx="105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4200" b="1">
                <a:solidFill>
                  <a:srgbClr val="FFFFFF"/>
                </a:solidFill>
                <a:latin typeface="Aptos Display"/>
              </a:rPr>
              <a:t xml:space="preserve">Mapping the</a:t>
            </a:r>
            <a:endParaRPr lang="en-US" sz="4200"/>
          </a:p>
          <a:p>
            <a:pPr algn="l"/>
            <a:r>
              <a:rPr lang="en-US" sz="4200" b="1">
                <a:solidFill>
                  <a:srgbClr val="FFFFFF"/>
                </a:solidFill>
                <a:latin typeface="Aptos Display"/>
              </a:rPr>
              <a:t xml:space="preserve">RTBF news agenda</a:t>
            </a:r>
            <a:endParaRPr lang="en-US" sz="4200"/>
          </a:p>
        </p:txBody>
      </p:sp>
      <p:sp>
        <p:nvSpPr>
          <p:cNvPr id="13" name="Text"/>
          <p:cNvSpPr txBox="1"/>
          <p:nvPr/>
        </p:nvSpPr>
        <p:spPr>
          <a:xfrm>
            <a:off x="900000" y="3550000"/>
            <a:ext cx="93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900" b="0">
                <a:solidFill>
                  <a:srgbClr val="E8E4DA"/>
                </a:solidFill>
                <a:latin typeface="Aptos"/>
              </a:rPr>
              <a:t xml:space="preserve">From 2,123 articles to a navigable landscape of themes</a:t>
            </a:r>
            <a:endParaRPr lang="en-US" sz="1900"/>
          </a:p>
        </p:txBody>
      </p:sp>
      <p:sp>
        <p:nvSpPr>
          <p:cNvPr id="14" name="Shape"/>
          <p:cNvSpPr/>
          <p:nvPr/>
        </p:nvSpPr>
        <p:spPr>
          <a:xfrm>
            <a:off x="900000" y="4750000"/>
            <a:ext cx="3000000" cy="950000"/>
          </a:xfrm>
          <a:prstGeom prst="roundRect">
            <a:avLst/>
          </a:prstGeom>
          <a:solidFill>
            <a:srgbClr val="292929"/>
          </a:solidFill>
          <a:ln w="6350">
            <a:solidFill>
              <a:srgbClr val="292929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1120000" y="489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200" b="1">
                <a:solidFill>
                  <a:srgbClr val="FAE042"/>
                </a:solidFill>
                <a:latin typeface="Aptos Display"/>
              </a:rPr>
              <a:t xml:space="preserve">2,123</a:t>
            </a:r>
            <a:endParaRPr lang="en-US" sz="3200"/>
          </a:p>
        </p:txBody>
      </p:sp>
      <p:sp>
        <p:nvSpPr>
          <p:cNvPr id="16" name="Text"/>
          <p:cNvSpPr txBox="1"/>
          <p:nvPr/>
        </p:nvSpPr>
        <p:spPr>
          <a:xfrm>
            <a:off x="1120000" y="5300000"/>
            <a:ext cx="26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FFFFFF"/>
                </a:solidFill>
                <a:latin typeface="Aptos"/>
              </a:rPr>
              <a:t xml:space="preserve">articles analyzed</a:t>
            </a:r>
            <a:endParaRPr lang="en-US" sz="1200"/>
          </a:p>
        </p:txBody>
      </p:sp>
      <p:sp>
        <p:nvSpPr>
          <p:cNvPr id="17" name="Shape"/>
          <p:cNvSpPr/>
          <p:nvPr/>
        </p:nvSpPr>
        <p:spPr>
          <a:xfrm>
            <a:off x="4200000" y="4750000"/>
            <a:ext cx="3000000" cy="950000"/>
          </a:xfrm>
          <a:prstGeom prst="roundRect">
            <a:avLst/>
          </a:prstGeom>
          <a:solidFill>
            <a:srgbClr val="292929"/>
          </a:solidFill>
          <a:ln w="6350">
            <a:solidFill>
              <a:srgbClr val="292929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4420000" y="489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ptos Display"/>
              </a:rPr>
              <a:t xml:space="preserve">37</a:t>
            </a:r>
            <a:endParaRPr lang="en-US" sz="3200"/>
          </a:p>
        </p:txBody>
      </p:sp>
      <p:sp>
        <p:nvSpPr>
          <p:cNvPr id="19" name="Text"/>
          <p:cNvSpPr txBox="1"/>
          <p:nvPr/>
        </p:nvSpPr>
        <p:spPr>
          <a:xfrm>
            <a:off x="4420000" y="5300000"/>
            <a:ext cx="26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FFFFFF"/>
                </a:solidFill>
                <a:latin typeface="Aptos"/>
              </a:rPr>
              <a:t xml:space="preserve">discovered topics</a:t>
            </a:r>
            <a:endParaRPr lang="en-US" sz="1200"/>
          </a:p>
        </p:txBody>
      </p:sp>
      <p:sp>
        <p:nvSpPr>
          <p:cNvPr id="20" name="Shape"/>
          <p:cNvSpPr/>
          <p:nvPr/>
        </p:nvSpPr>
        <p:spPr>
          <a:xfrm>
            <a:off x="7500000" y="4750000"/>
            <a:ext cx="3000000" cy="950000"/>
          </a:xfrm>
          <a:prstGeom prst="roundRect">
            <a:avLst/>
          </a:prstGeom>
          <a:solidFill>
            <a:srgbClr val="292929"/>
          </a:solidFill>
          <a:ln w="6350">
            <a:solidFill>
              <a:srgbClr val="292929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7720000" y="489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200" b="1">
                <a:solidFill>
                  <a:srgbClr val="ED2939"/>
                </a:solidFill>
                <a:latin typeface="Aptos Display"/>
              </a:rPr>
              <a:t xml:space="preserve">4 days</a:t>
            </a:r>
            <a:endParaRPr lang="en-US" sz="3200"/>
          </a:p>
        </p:txBody>
      </p:sp>
      <p:sp>
        <p:nvSpPr>
          <p:cNvPr id="22" name="Text"/>
          <p:cNvSpPr txBox="1"/>
          <p:nvPr/>
        </p:nvSpPr>
        <p:spPr>
          <a:xfrm>
            <a:off x="7720000" y="5300000"/>
            <a:ext cx="26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FFFFFF"/>
                </a:solidFill>
                <a:latin typeface="Aptos"/>
              </a:rPr>
              <a:t xml:space="preserve">end-to-end sprint</a:t>
            </a:r>
            <a:endParaRPr lang="en-US" sz="1200"/>
          </a:p>
        </p:txBody>
      </p:sp>
      <p:sp>
        <p:nvSpPr>
          <p:cNvPr id="23" name="Text"/>
          <p:cNvSpPr txBox="1"/>
          <p:nvPr/>
        </p:nvSpPr>
        <p:spPr>
          <a:xfrm>
            <a:off x="850000" y="6250000"/>
            <a:ext cx="90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0">
                <a:solidFill>
                  <a:srgbClr val="BDB7A9"/>
                </a:solidFill>
                <a:latin typeface="Aptos"/>
              </a:rPr>
              <a:t xml:space="preserve">Article dates: 2020-10-01 — 2026-10-09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A newsroom archive is more than a list of links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The project turns public-facing articles into a structured corpus that can be searched, grouped and interpreted.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620000" y="2300000"/>
            <a:ext cx="3350000" cy="20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0" name="Shape"/>
          <p:cNvSpPr/>
          <p:nvPr/>
        </p:nvSpPr>
        <p:spPr>
          <a:xfrm>
            <a:off x="620000" y="2300000"/>
            <a:ext cx="62000" cy="205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40000" y="245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THE INPUT</a:t>
            </a:r>
            <a:endParaRPr lang="en-US" sz="1700"/>
          </a:p>
        </p:txBody>
      </p:sp>
      <p:sp>
        <p:nvSpPr>
          <p:cNvPr id="12" name="Text"/>
          <p:cNvSpPr txBox="1"/>
          <p:nvPr/>
        </p:nvSpPr>
        <p:spPr>
          <a:xfrm>
            <a:off x="840000" y="2900000"/>
            <a:ext cx="295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RTBF article pages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Metadata + full text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French-language coverage</a:t>
            </a:r>
            <a:endParaRPr lang="en-US" sz="1300"/>
          </a:p>
        </p:txBody>
      </p:sp>
      <p:sp>
        <p:nvSpPr>
          <p:cNvPr id="13" name="Shape"/>
          <p:cNvSpPr/>
          <p:nvPr/>
        </p:nvSpPr>
        <p:spPr>
          <a:xfrm>
            <a:off x="4980000" y="2300000"/>
            <a:ext cx="3350000" cy="20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4" name="Shape"/>
          <p:cNvSpPr/>
          <p:nvPr/>
        </p:nvSpPr>
        <p:spPr>
          <a:xfrm>
            <a:off x="4980000" y="2300000"/>
            <a:ext cx="62000" cy="205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200000" y="245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THE TRANSFORMATION</a:t>
            </a:r>
            <a:endParaRPr lang="en-US" sz="1700"/>
          </a:p>
        </p:txBody>
      </p:sp>
      <p:sp>
        <p:nvSpPr>
          <p:cNvPr id="16" name="Text"/>
          <p:cNvSpPr txBox="1"/>
          <p:nvPr/>
        </p:nvSpPr>
        <p:spPr>
          <a:xfrm>
            <a:off x="5200000" y="2900000"/>
            <a:ext cx="295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Clean + validate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Represent meaning as vectors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Group related stories</a:t>
            </a:r>
            <a:endParaRPr lang="en-US" sz="1300"/>
          </a:p>
        </p:txBody>
      </p:sp>
      <p:sp>
        <p:nvSpPr>
          <p:cNvPr id="17" name="Shape"/>
          <p:cNvSpPr/>
          <p:nvPr/>
        </p:nvSpPr>
        <p:spPr>
          <a:xfrm>
            <a:off x="9340000" y="2300000"/>
            <a:ext cx="3350000" cy="20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8" name="Shape"/>
          <p:cNvSpPr/>
          <p:nvPr/>
        </p:nvSpPr>
        <p:spPr>
          <a:xfrm>
            <a:off x="9340000" y="2300000"/>
            <a:ext cx="62000" cy="205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9560000" y="245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THE OUTPUT</a:t>
            </a:r>
            <a:endParaRPr lang="en-US" sz="1700"/>
          </a:p>
        </p:txBody>
      </p:sp>
      <p:sp>
        <p:nvSpPr>
          <p:cNvPr id="20" name="Text"/>
          <p:cNvSpPr txBox="1"/>
          <p:nvPr/>
        </p:nvSpPr>
        <p:spPr>
          <a:xfrm>
            <a:off x="9560000" y="2900000"/>
            <a:ext cx="295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Topic and cluster summaries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Interactive maps + charts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Streamlit exploration</a:t>
            </a:r>
            <a:endParaRPr lang="en-US" sz="1300"/>
          </a:p>
        </p:txBody>
      </p:sp>
      <p:sp>
        <p:nvSpPr>
          <p:cNvPr id="21" name="Text"/>
          <p:cNvSpPr txBox="1"/>
          <p:nvPr/>
        </p:nvSpPr>
        <p:spPr>
          <a:xfrm>
            <a:off x="620000" y="4900000"/>
            <a:ext cx="106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1">
                <a:solidFill>
                  <a:srgbClr val="ED2939"/>
                </a:solidFill>
                <a:latin typeface="Aptos"/>
              </a:rPr>
              <a:t xml:space="preserve">Guiding question</a:t>
            </a:r>
            <a:endParaRPr lang="en-US" sz="1300"/>
          </a:p>
        </p:txBody>
      </p:sp>
      <p:sp>
        <p:nvSpPr>
          <p:cNvPr id="22" name="Text"/>
          <p:cNvSpPr txBox="1"/>
          <p:nvPr/>
        </p:nvSpPr>
        <p:spPr>
          <a:xfrm>
            <a:off x="620000" y="53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2600" b="1">
                <a:solidFill>
                  <a:srgbClr val="1F1F1F"/>
                </a:solidFill>
                <a:latin typeface="Aptos Display"/>
              </a:rPr>
              <a:t xml:space="preserve">What recurring themes emerge when we read coverage at corpus scale?</a:t>
            </a:r>
            <a:endParaRPr lang="en-US" sz="2600"/>
          </a:p>
        </p:txBody>
      </p:sp>
      <p:sp>
        <p:nvSpPr>
          <p:cNvPr id="23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README.md · project outputs</a:t>
            </a:r>
            <a:endParaRPr lang="en-US" sz="900"/>
          </a:p>
        </p:txBody>
      </p:sp>
      <p:sp>
        <p:nvSpPr>
          <p:cNvPr id="24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A complete pipeline, from URL to insight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Seven stages connect collection, data quality, semantic modeling and human review.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5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6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01</a:t>
            </a:r>
            <a:endParaRPr lang="en-US" sz="1100"/>
          </a:p>
        </p:txBody>
      </p:sp>
      <p:sp>
        <p:nvSpPr>
          <p:cNvPr id="11" name="Text"/>
          <p:cNvSpPr txBox="1"/>
          <p:nvPr/>
        </p:nvSpPr>
        <p:spPr>
          <a:xfrm>
            <a:off x="6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Collect</a:t>
            </a:r>
            <a:endParaRPr lang="en-US" sz="1600"/>
          </a:p>
        </p:txBody>
      </p:sp>
      <p:sp>
        <p:nvSpPr>
          <p:cNvPr id="12" name="Text"/>
          <p:cNvSpPr txBox="1"/>
          <p:nvPr/>
        </p:nvSpPr>
        <p:spPr>
          <a:xfrm>
            <a:off x="6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Archive URLs</a:t>
            </a:r>
            <a:endParaRPr lang="en-US" sz="1050"/>
          </a:p>
        </p:txBody>
      </p:sp>
      <p:sp>
        <p:nvSpPr>
          <p:cNvPr id="13" name="Shape"/>
          <p:cNvSpPr/>
          <p:nvPr/>
        </p:nvSpPr>
        <p:spPr>
          <a:xfrm>
            <a:off x="1900000" y="3320000"/>
            <a:ext cx="230000" cy="9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4" name="Shape"/>
          <p:cNvSpPr/>
          <p:nvPr/>
        </p:nvSpPr>
        <p:spPr>
          <a:xfrm>
            <a:off x="22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23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02</a:t>
            </a:r>
            <a:endParaRPr lang="en-US" sz="1100"/>
          </a:p>
        </p:txBody>
      </p:sp>
      <p:sp>
        <p:nvSpPr>
          <p:cNvPr id="16" name="Text"/>
          <p:cNvSpPr txBox="1"/>
          <p:nvPr/>
        </p:nvSpPr>
        <p:spPr>
          <a:xfrm>
            <a:off x="23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Extract</a:t>
            </a:r>
            <a:endParaRPr lang="en-US" sz="1600"/>
          </a:p>
        </p:txBody>
      </p:sp>
      <p:sp>
        <p:nvSpPr>
          <p:cNvPr id="17" name="Text"/>
          <p:cNvSpPr txBox="1"/>
          <p:nvPr/>
        </p:nvSpPr>
        <p:spPr>
          <a:xfrm>
            <a:off x="23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Parse article pages</a:t>
            </a:r>
            <a:endParaRPr lang="en-US" sz="1050"/>
          </a:p>
        </p:txBody>
      </p:sp>
      <p:sp>
        <p:nvSpPr>
          <p:cNvPr id="18" name="Shape"/>
          <p:cNvSpPr/>
          <p:nvPr/>
        </p:nvSpPr>
        <p:spPr>
          <a:xfrm>
            <a:off x="3600000" y="3320000"/>
            <a:ext cx="230000" cy="9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9" name="Shape"/>
          <p:cNvSpPr/>
          <p:nvPr/>
        </p:nvSpPr>
        <p:spPr>
          <a:xfrm>
            <a:off x="39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40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03</a:t>
            </a:r>
            <a:endParaRPr lang="en-US" sz="1100"/>
          </a:p>
        </p:txBody>
      </p:sp>
      <p:sp>
        <p:nvSpPr>
          <p:cNvPr id="21" name="Text"/>
          <p:cNvSpPr txBox="1"/>
          <p:nvPr/>
        </p:nvSpPr>
        <p:spPr>
          <a:xfrm>
            <a:off x="40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Clean</a:t>
            </a:r>
            <a:endParaRPr lang="en-US" sz="1600"/>
          </a:p>
        </p:txBody>
      </p:sp>
      <p:sp>
        <p:nvSpPr>
          <p:cNvPr id="22" name="Text"/>
          <p:cNvSpPr txBox="1"/>
          <p:nvPr/>
        </p:nvSpPr>
        <p:spPr>
          <a:xfrm>
            <a:off x="40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Validate records</a:t>
            </a:r>
            <a:endParaRPr lang="en-US" sz="1050"/>
          </a:p>
        </p:txBody>
      </p:sp>
      <p:sp>
        <p:nvSpPr>
          <p:cNvPr id="23" name="Shape"/>
          <p:cNvSpPr/>
          <p:nvPr/>
        </p:nvSpPr>
        <p:spPr>
          <a:xfrm>
            <a:off x="5300000" y="3320000"/>
            <a:ext cx="230000" cy="9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24" name="Shape"/>
          <p:cNvSpPr/>
          <p:nvPr/>
        </p:nvSpPr>
        <p:spPr>
          <a:xfrm>
            <a:off x="56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57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04</a:t>
            </a:r>
            <a:endParaRPr lang="en-US" sz="1100"/>
          </a:p>
        </p:txBody>
      </p:sp>
      <p:sp>
        <p:nvSpPr>
          <p:cNvPr id="26" name="Text"/>
          <p:cNvSpPr txBox="1"/>
          <p:nvPr/>
        </p:nvSpPr>
        <p:spPr>
          <a:xfrm>
            <a:off x="57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Embed</a:t>
            </a:r>
            <a:endParaRPr lang="en-US" sz="1600"/>
          </a:p>
        </p:txBody>
      </p:sp>
      <p:sp>
        <p:nvSpPr>
          <p:cNvPr id="27" name="Text"/>
          <p:cNvSpPr txBox="1"/>
          <p:nvPr/>
        </p:nvSpPr>
        <p:spPr>
          <a:xfrm>
            <a:off x="57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Multilingual vectors</a:t>
            </a:r>
            <a:endParaRPr lang="en-US" sz="1050"/>
          </a:p>
        </p:txBody>
      </p:sp>
      <p:sp>
        <p:nvSpPr>
          <p:cNvPr id="28" name="Shape"/>
          <p:cNvSpPr/>
          <p:nvPr/>
        </p:nvSpPr>
        <p:spPr>
          <a:xfrm>
            <a:off x="7000000" y="3320000"/>
            <a:ext cx="230000" cy="9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29" name="Shape"/>
          <p:cNvSpPr/>
          <p:nvPr/>
        </p:nvSpPr>
        <p:spPr>
          <a:xfrm>
            <a:off x="73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74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05</a:t>
            </a:r>
            <a:endParaRPr lang="en-US" sz="1100"/>
          </a:p>
        </p:txBody>
      </p:sp>
      <p:sp>
        <p:nvSpPr>
          <p:cNvPr id="31" name="Text"/>
          <p:cNvSpPr txBox="1"/>
          <p:nvPr/>
        </p:nvSpPr>
        <p:spPr>
          <a:xfrm>
            <a:off x="74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Cluster</a:t>
            </a:r>
            <a:endParaRPr lang="en-US" sz="1600"/>
          </a:p>
        </p:txBody>
      </p:sp>
      <p:sp>
        <p:nvSpPr>
          <p:cNvPr id="32" name="Text"/>
          <p:cNvSpPr txBox="1"/>
          <p:nvPr/>
        </p:nvSpPr>
        <p:spPr>
          <a:xfrm>
            <a:off x="74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Group similar text</a:t>
            </a:r>
            <a:endParaRPr lang="en-US" sz="1050"/>
          </a:p>
        </p:txBody>
      </p:sp>
      <p:sp>
        <p:nvSpPr>
          <p:cNvPr id="33" name="Shape"/>
          <p:cNvSpPr/>
          <p:nvPr/>
        </p:nvSpPr>
        <p:spPr>
          <a:xfrm>
            <a:off x="8700000" y="3320000"/>
            <a:ext cx="230000" cy="9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34" name="Shape"/>
          <p:cNvSpPr/>
          <p:nvPr/>
        </p:nvSpPr>
        <p:spPr>
          <a:xfrm>
            <a:off x="90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91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06</a:t>
            </a:r>
            <a:endParaRPr lang="en-US" sz="1100"/>
          </a:p>
        </p:txBody>
      </p:sp>
      <p:sp>
        <p:nvSpPr>
          <p:cNvPr id="36" name="Text"/>
          <p:cNvSpPr txBox="1"/>
          <p:nvPr/>
        </p:nvSpPr>
        <p:spPr>
          <a:xfrm>
            <a:off x="91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Model</a:t>
            </a:r>
            <a:endParaRPr lang="en-US" sz="1600"/>
          </a:p>
        </p:txBody>
      </p:sp>
      <p:sp>
        <p:nvSpPr>
          <p:cNvPr id="37" name="Text"/>
          <p:cNvSpPr txBox="1"/>
          <p:nvPr/>
        </p:nvSpPr>
        <p:spPr>
          <a:xfrm>
            <a:off x="91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BERTopic themes</a:t>
            </a:r>
            <a:endParaRPr lang="en-US" sz="1050"/>
          </a:p>
        </p:txBody>
      </p:sp>
      <p:sp>
        <p:nvSpPr>
          <p:cNvPr id="38" name="Shape"/>
          <p:cNvSpPr/>
          <p:nvPr/>
        </p:nvSpPr>
        <p:spPr>
          <a:xfrm>
            <a:off x="10400000" y="3320000"/>
            <a:ext cx="230000" cy="9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39" name="Shape"/>
          <p:cNvSpPr/>
          <p:nvPr/>
        </p:nvSpPr>
        <p:spPr>
          <a:xfrm>
            <a:off x="10730000" y="2650000"/>
            <a:ext cx="1350000" cy="15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10860000" y="2780000"/>
            <a:ext cx="10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ED2939"/>
                </a:solidFill>
                <a:latin typeface="Aptos"/>
              </a:rPr>
              <a:t xml:space="preserve">07</a:t>
            </a:r>
            <a:endParaRPr lang="en-US" sz="1100"/>
          </a:p>
        </p:txBody>
      </p:sp>
      <p:sp>
        <p:nvSpPr>
          <p:cNvPr id="41" name="Text"/>
          <p:cNvSpPr txBox="1"/>
          <p:nvPr/>
        </p:nvSpPr>
        <p:spPr>
          <a:xfrm>
            <a:off x="10860000" y="3150000"/>
            <a:ext cx="1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00" b="1">
                <a:solidFill>
                  <a:srgbClr val="1F1F1F"/>
                </a:solidFill>
                <a:latin typeface="Aptos"/>
              </a:rPr>
              <a:t xml:space="preserve">Explore</a:t>
            </a:r>
            <a:endParaRPr lang="en-US" sz="1600"/>
          </a:p>
        </p:txBody>
      </p:sp>
      <p:sp>
        <p:nvSpPr>
          <p:cNvPr id="42" name="Text"/>
          <p:cNvSpPr txBox="1"/>
          <p:nvPr/>
        </p:nvSpPr>
        <p:spPr>
          <a:xfrm>
            <a:off x="10860000" y="3650000"/>
            <a:ext cx="11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050" b="0">
                <a:solidFill>
                  <a:srgbClr val="6B6358"/>
                </a:solidFill>
                <a:latin typeface="Aptos"/>
              </a:rPr>
              <a:t xml:space="preserve">Dashboard + maps</a:t>
            </a:r>
            <a:endParaRPr lang="en-US" sz="1050"/>
          </a:p>
        </p:txBody>
      </p:sp>
      <p:sp>
        <p:nvSpPr>
          <p:cNvPr id="43" name="Text"/>
          <p:cNvSpPr txBox="1"/>
          <p:nvPr/>
        </p:nvSpPr>
        <p:spPr>
          <a:xfrm>
            <a:off x="650000" y="4800000"/>
            <a:ext cx="104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Quality gates matter: remove duplicates, incomplete records, non-news pages and very short entries before modeling.</a:t>
            </a:r>
            <a:endParaRPr lang="en-US" sz="1500"/>
          </a:p>
        </p:txBody>
      </p:sp>
      <p:sp>
        <p:nvSpPr>
          <p:cNvPr id="44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README.md · src/archive.py · src/preprocessing.py · src/topic_modeling.py</a:t>
            </a:r>
            <a:endParaRPr lang="en-US" sz="900"/>
          </a:p>
        </p:txBody>
      </p:sp>
      <p:sp>
        <p:nvSpPr>
          <p:cNvPr id="45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The model sees meaning, not just matching words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Embeddings provide a multilingual semantic space; dimensionality reduction and density clustering reveal structure.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620000" y="2250000"/>
            <a:ext cx="3350000" cy="22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0" name="Shape"/>
          <p:cNvSpPr/>
          <p:nvPr/>
        </p:nvSpPr>
        <p:spPr>
          <a:xfrm>
            <a:off x="620000" y="2250000"/>
            <a:ext cx="62000" cy="225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4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01  REPRESENT</a:t>
            </a:r>
            <a:endParaRPr lang="en-US" sz="1700"/>
          </a:p>
        </p:txBody>
      </p:sp>
      <p:sp>
        <p:nvSpPr>
          <p:cNvPr id="12" name="Text"/>
          <p:cNvSpPr txBox="1"/>
          <p:nvPr/>
        </p:nvSpPr>
        <p:spPr>
          <a:xfrm>
            <a:off x="840000" y="2850000"/>
            <a:ext cx="2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Sentence-transformer embeddings turn each article into a vector that captures semantic context.</a:t>
            </a:r>
            <a:endParaRPr lang="en-US" sz="1300"/>
          </a:p>
        </p:txBody>
      </p:sp>
      <p:sp>
        <p:nvSpPr>
          <p:cNvPr id="13" name="Shape"/>
          <p:cNvSpPr/>
          <p:nvPr/>
        </p:nvSpPr>
        <p:spPr>
          <a:xfrm>
            <a:off x="4980000" y="2250000"/>
            <a:ext cx="3350000" cy="22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4" name="Shape"/>
          <p:cNvSpPr/>
          <p:nvPr/>
        </p:nvSpPr>
        <p:spPr>
          <a:xfrm>
            <a:off x="4980000" y="2250000"/>
            <a:ext cx="62000" cy="225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20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02  ORGANIZE</a:t>
            </a:r>
            <a:endParaRPr lang="en-US" sz="1700"/>
          </a:p>
        </p:txBody>
      </p:sp>
      <p:sp>
        <p:nvSpPr>
          <p:cNvPr id="16" name="Text"/>
          <p:cNvSpPr txBox="1"/>
          <p:nvPr/>
        </p:nvSpPr>
        <p:spPr>
          <a:xfrm>
            <a:off x="5200000" y="2850000"/>
            <a:ext cx="2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UMAP + HDBSCAN group dense regions while leaving ambiguous documents unassigned.</a:t>
            </a:r>
            <a:endParaRPr lang="en-US" sz="1300"/>
          </a:p>
        </p:txBody>
      </p:sp>
      <p:sp>
        <p:nvSpPr>
          <p:cNvPr id="17" name="Shape"/>
          <p:cNvSpPr/>
          <p:nvPr/>
        </p:nvSpPr>
        <p:spPr>
          <a:xfrm>
            <a:off x="9340000" y="2250000"/>
            <a:ext cx="3350000" cy="22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8" name="Shape"/>
          <p:cNvSpPr/>
          <p:nvPr/>
        </p:nvSpPr>
        <p:spPr>
          <a:xfrm>
            <a:off x="9340000" y="2250000"/>
            <a:ext cx="62000" cy="225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956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03  DESCRIBE</a:t>
            </a:r>
            <a:endParaRPr lang="en-US" sz="1700"/>
          </a:p>
        </p:txBody>
      </p:sp>
      <p:sp>
        <p:nvSpPr>
          <p:cNvPr id="20" name="Text"/>
          <p:cNvSpPr txBox="1"/>
          <p:nvPr/>
        </p:nvSpPr>
        <p:spPr>
          <a:xfrm>
            <a:off x="9560000" y="2850000"/>
            <a:ext cx="2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BERTopic extracts representative terms and documents to make each group inspectable.</a:t>
            </a:r>
            <a:endParaRPr lang="en-US" sz="1300"/>
          </a:p>
        </p:txBody>
      </p:sp>
      <p:sp>
        <p:nvSpPr>
          <p:cNvPr id="21" name="Text"/>
          <p:cNvSpPr txBox="1"/>
          <p:nvPr/>
        </p:nvSpPr>
        <p:spPr>
          <a:xfrm>
            <a:off x="620000" y="5000000"/>
            <a:ext cx="105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800" b="1">
                <a:solidFill>
                  <a:srgbClr val="1F1F1F"/>
                </a:solidFill>
                <a:latin typeface="Aptos"/>
              </a:rPr>
              <a:t xml:space="preserve">Human interpretation remains in the loop: topic labels are summaries, not ground-truth categories.</a:t>
            </a:r>
            <a:endParaRPr lang="en-US" sz="1800"/>
          </a:p>
        </p:txBody>
      </p:sp>
      <p:sp>
        <p:nvSpPr>
          <p:cNvPr id="22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src/embeddings.py · src/clustering.py · src/topic_modeling.py</a:t>
            </a:r>
            <a:endParaRPr lang="en-US" sz="900"/>
          </a:p>
        </p:txBody>
      </p:sp>
      <p:sp>
        <p:nvSpPr>
          <p:cNvPr id="23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The largest themes span culture, sport and public life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Article counts for the ten largest modeled topics; unassigned documents are shown separately on the next slide.</a:t>
            </a:r>
            <a:endParaRPr lang="en-US" sz="1500"/>
          </a:p>
        </p:txBody>
      </p:sp>
      <p:sp>
        <p:nvSpPr>
          <p:cNvPr id="9" name="Text"/>
          <p:cNvSpPr txBox="1"/>
          <p:nvPr/>
        </p:nvSpPr>
        <p:spPr>
          <a:xfrm>
            <a:off x="650000" y="205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Cinéma &amp; séries</a:t>
            </a:r>
            <a:endParaRPr lang="en-US" sz="1200"/>
          </a:p>
        </p:txBody>
      </p:sp>
      <p:sp>
        <p:nvSpPr>
          <p:cNvPr id="10" name="Shape"/>
          <p:cNvSpPr/>
          <p:nvPr/>
        </p:nvSpPr>
        <p:spPr>
          <a:xfrm>
            <a:off x="4750000" y="2070000"/>
            <a:ext cx="6000000" cy="190000"/>
          </a:xfrm>
          <a:prstGeom prst="round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10850000" y="205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198</a:t>
            </a:r>
            <a:endParaRPr lang="en-US" sz="1200"/>
          </a:p>
        </p:txBody>
      </p:sp>
      <p:sp>
        <p:nvSpPr>
          <p:cNvPr id="12" name="Text"/>
          <p:cNvSpPr txBox="1"/>
          <p:nvPr/>
        </p:nvSpPr>
        <p:spPr>
          <a:xfrm>
            <a:off x="650000" y="244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Musique &amp; concerts</a:t>
            </a:r>
            <a:endParaRPr lang="en-US" sz="1200"/>
          </a:p>
        </p:txBody>
      </p:sp>
      <p:sp>
        <p:nvSpPr>
          <p:cNvPr id="13" name="Shape"/>
          <p:cNvSpPr/>
          <p:nvPr/>
        </p:nvSpPr>
        <p:spPr>
          <a:xfrm>
            <a:off x="4750000" y="2460000"/>
            <a:ext cx="5848484" cy="190000"/>
          </a:xfrm>
          <a:prstGeom prst="roundRect">
            <a:avLst/>
          </a:prstGeom>
          <a:solidFill>
            <a:srgbClr val="F2B705"/>
          </a:solidFill>
          <a:ln w="6350">
            <a:solidFill>
              <a:srgbClr val="F2B705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10698484" y="244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193</a:t>
            </a:r>
            <a:endParaRPr lang="en-US" sz="1200"/>
          </a:p>
        </p:txBody>
      </p:sp>
      <p:sp>
        <p:nvSpPr>
          <p:cNvPr id="15" name="Text"/>
          <p:cNvSpPr txBox="1"/>
          <p:nvPr/>
        </p:nvSpPr>
        <p:spPr>
          <a:xfrm>
            <a:off x="650000" y="283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Cyclisme</a:t>
            </a:r>
            <a:endParaRPr lang="en-US" sz="1200"/>
          </a:p>
        </p:txBody>
      </p:sp>
      <p:sp>
        <p:nvSpPr>
          <p:cNvPr id="16" name="Shape"/>
          <p:cNvSpPr/>
          <p:nvPr/>
        </p:nvSpPr>
        <p:spPr>
          <a:xfrm>
            <a:off x="4750000" y="2850000"/>
            <a:ext cx="3030303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7880303" y="283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100</a:t>
            </a:r>
            <a:endParaRPr lang="en-US" sz="1200"/>
          </a:p>
        </p:txBody>
      </p:sp>
      <p:sp>
        <p:nvSpPr>
          <p:cNvPr id="18" name="Text"/>
          <p:cNvSpPr txBox="1"/>
          <p:nvPr/>
        </p:nvSpPr>
        <p:spPr>
          <a:xfrm>
            <a:off x="650000" y="322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Écoles &amp; jeunesse</a:t>
            </a:r>
            <a:endParaRPr lang="en-US" sz="1200"/>
          </a:p>
        </p:txBody>
      </p:sp>
      <p:sp>
        <p:nvSpPr>
          <p:cNvPr id="19" name="Shape"/>
          <p:cNvSpPr/>
          <p:nvPr/>
        </p:nvSpPr>
        <p:spPr>
          <a:xfrm>
            <a:off x="4750000" y="3240000"/>
            <a:ext cx="2878787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728787" y="322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95</a:t>
            </a:r>
            <a:endParaRPr lang="en-US" sz="1200"/>
          </a:p>
        </p:txBody>
      </p:sp>
      <p:sp>
        <p:nvSpPr>
          <p:cNvPr id="21" name="Text"/>
          <p:cNvSpPr txBox="1"/>
          <p:nvPr/>
        </p:nvSpPr>
        <p:spPr>
          <a:xfrm>
            <a:off x="650000" y="361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Diables Rouges (football)</a:t>
            </a:r>
            <a:endParaRPr lang="en-US" sz="1200"/>
          </a:p>
        </p:txBody>
      </p:sp>
      <p:sp>
        <p:nvSpPr>
          <p:cNvPr id="22" name="Shape"/>
          <p:cNvSpPr/>
          <p:nvPr/>
        </p:nvSpPr>
        <p:spPr>
          <a:xfrm>
            <a:off x="4750000" y="3630000"/>
            <a:ext cx="2272727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7122727" y="361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75</a:t>
            </a:r>
            <a:endParaRPr lang="en-US" sz="1200"/>
          </a:p>
        </p:txBody>
      </p:sp>
      <p:sp>
        <p:nvSpPr>
          <p:cNvPr id="24" name="Text"/>
          <p:cNvSpPr txBox="1"/>
          <p:nvPr/>
        </p:nvSpPr>
        <p:spPr>
          <a:xfrm>
            <a:off x="650000" y="400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Procès &amp; justice</a:t>
            </a:r>
            <a:endParaRPr lang="en-US" sz="1200"/>
          </a:p>
        </p:txBody>
      </p:sp>
      <p:sp>
        <p:nvSpPr>
          <p:cNvPr id="25" name="Shape"/>
          <p:cNvSpPr/>
          <p:nvPr/>
        </p:nvSpPr>
        <p:spPr>
          <a:xfrm>
            <a:off x="4750000" y="4020000"/>
            <a:ext cx="2212121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7062121" y="400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73</a:t>
            </a:r>
            <a:endParaRPr lang="en-US" sz="1200"/>
          </a:p>
        </p:txBody>
      </p:sp>
      <p:sp>
        <p:nvSpPr>
          <p:cNvPr id="27" name="Text"/>
          <p:cNvSpPr txBox="1"/>
          <p:nvPr/>
        </p:nvSpPr>
        <p:spPr>
          <a:xfrm>
            <a:off x="650000" y="439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Guerre en Ukraine</a:t>
            </a:r>
            <a:endParaRPr lang="en-US" sz="1200"/>
          </a:p>
        </p:txBody>
      </p:sp>
      <p:sp>
        <p:nvSpPr>
          <p:cNvPr id="28" name="Shape"/>
          <p:cNvSpPr/>
          <p:nvPr/>
        </p:nvSpPr>
        <p:spPr>
          <a:xfrm>
            <a:off x="4750000" y="4410000"/>
            <a:ext cx="2212121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7062121" y="439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73</a:t>
            </a:r>
            <a:endParaRPr lang="en-US" sz="1200"/>
          </a:p>
        </p:txBody>
      </p:sp>
      <p:sp>
        <p:nvSpPr>
          <p:cNvPr id="30" name="Text"/>
          <p:cNvSpPr txBox="1"/>
          <p:nvPr/>
        </p:nvSpPr>
        <p:spPr>
          <a:xfrm>
            <a:off x="650000" y="478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Jeux vidéo</a:t>
            </a:r>
            <a:endParaRPr lang="en-US" sz="1200"/>
          </a:p>
        </p:txBody>
      </p:sp>
      <p:sp>
        <p:nvSpPr>
          <p:cNvPr id="31" name="Shape"/>
          <p:cNvSpPr/>
          <p:nvPr/>
        </p:nvSpPr>
        <p:spPr>
          <a:xfrm>
            <a:off x="4750000" y="4800000"/>
            <a:ext cx="1787878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6637878" y="478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59</a:t>
            </a:r>
            <a:endParaRPr lang="en-US" sz="1200"/>
          </a:p>
        </p:txBody>
      </p:sp>
      <p:sp>
        <p:nvSpPr>
          <p:cNvPr id="33" name="Text"/>
          <p:cNvSpPr txBox="1"/>
          <p:nvPr/>
        </p:nvSpPr>
        <p:spPr>
          <a:xfrm>
            <a:off x="650000" y="517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Budget &amp; gouvernement</a:t>
            </a:r>
            <a:endParaRPr lang="en-US" sz="1200"/>
          </a:p>
        </p:txBody>
      </p:sp>
      <p:sp>
        <p:nvSpPr>
          <p:cNvPr id="34" name="Shape"/>
          <p:cNvSpPr/>
          <p:nvPr/>
        </p:nvSpPr>
        <p:spPr>
          <a:xfrm>
            <a:off x="4750000" y="5190000"/>
            <a:ext cx="1484848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334848" y="517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49</a:t>
            </a:r>
            <a:endParaRPr lang="en-US" sz="1200"/>
          </a:p>
        </p:txBody>
      </p:sp>
      <p:sp>
        <p:nvSpPr>
          <p:cNvPr id="36" name="Text"/>
          <p:cNvSpPr txBox="1"/>
          <p:nvPr/>
        </p:nvSpPr>
        <p:spPr>
          <a:xfrm>
            <a:off x="650000" y="5560000"/>
            <a:ext cx="390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1F1F1F"/>
                </a:solidFill>
                <a:latin typeface="Aptos"/>
              </a:rPr>
              <a:t xml:space="preserve">Météo</a:t>
            </a:r>
            <a:endParaRPr lang="en-US" sz="1200"/>
          </a:p>
        </p:txBody>
      </p:sp>
      <p:sp>
        <p:nvSpPr>
          <p:cNvPr id="37" name="Shape"/>
          <p:cNvSpPr/>
          <p:nvPr/>
        </p:nvSpPr>
        <p:spPr>
          <a:xfrm>
            <a:off x="4750000" y="5580000"/>
            <a:ext cx="1333333" cy="190000"/>
          </a:xfrm>
          <a:prstGeom prst="roundRect">
            <a:avLst/>
          </a:prstGeom>
          <a:solidFill>
            <a:srgbClr val="D8D2C4"/>
          </a:solidFill>
          <a:ln w="6350">
            <a:solidFill>
              <a:srgbClr val="D8D2C4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6183333" y="5560000"/>
            <a:ext cx="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1">
                <a:solidFill>
                  <a:srgbClr val="1F1F1F"/>
                </a:solidFill>
                <a:latin typeface="Aptos"/>
              </a:rPr>
              <a:t xml:space="preserve">44</a:t>
            </a:r>
            <a:endParaRPr lang="en-US" sz="1200"/>
          </a:p>
        </p:txBody>
      </p:sp>
      <p:sp>
        <p:nvSpPr>
          <p:cNvPr id="39" name="Text"/>
          <p:cNvSpPr txBox="1"/>
          <p:nvPr/>
        </p:nvSpPr>
        <p:spPr>
          <a:xfrm>
            <a:off x="650000" y="6000000"/>
            <a:ext cx="10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1">
                <a:solidFill>
                  <a:srgbClr val="6B6358"/>
                </a:solidFill>
                <a:latin typeface="Aptos"/>
              </a:rPr>
              <a:t xml:space="preserve">Top 2: Cinéma &amp; séries (198)  ·  Musique &amp; concerts (193)  ·  Cyclisme (100)</a:t>
            </a:r>
            <a:endParaRPr lang="en-US" sz="1300"/>
          </a:p>
        </p:txBody>
      </p:sp>
      <p:sp>
        <p:nvSpPr>
          <p:cNvPr id="40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outputs/topic_info.csv · counts sum to 1,500 assigned articles across 37 topics</a:t>
            </a:r>
            <a:endParaRPr lang="en-US" sz="900"/>
          </a:p>
        </p:txBody>
      </p:sp>
      <p:sp>
        <p:nvSpPr>
          <p:cNvPr id="41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A substantial share stays outside the topic labels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BERTopic assigns an outlier label when a document does not fit a dense topic cluster confidently.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900000" y="2300000"/>
            <a:ext cx="10300000" cy="450000"/>
          </a:xfrm>
          <a:prstGeom prst="roundRect">
            <a:avLst/>
          </a:prstGeom>
          <a:solidFill>
            <a:srgbClr val="E6DFCC"/>
          </a:solidFill>
          <a:ln w="6350">
            <a:solidFill>
              <a:srgbClr val="E6DFCC"/>
            </a:solidFill>
          </a:ln>
        </p:spPr>
      </p:sp>
      <p:sp>
        <p:nvSpPr>
          <p:cNvPr id="10" name="Shape"/>
          <p:cNvSpPr/>
          <p:nvPr/>
        </p:nvSpPr>
        <p:spPr>
          <a:xfrm>
            <a:off x="900000" y="2300000"/>
            <a:ext cx="3022562" cy="450000"/>
          </a:xfrm>
          <a:prstGeom prst="round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Shape"/>
          <p:cNvSpPr/>
          <p:nvPr/>
        </p:nvSpPr>
        <p:spPr>
          <a:xfrm>
            <a:off x="3922562" y="2300000"/>
            <a:ext cx="7277437" cy="450000"/>
          </a:xfrm>
          <a:prstGeom prst="round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950000" y="3100000"/>
            <a:ext cx="47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900" b="1">
                <a:solidFill>
                  <a:srgbClr val="ED2939"/>
                </a:solidFill>
                <a:latin typeface="Aptos Display"/>
              </a:rPr>
              <a:t xml:space="preserve">29.3%</a:t>
            </a:r>
            <a:endParaRPr lang="en-US" sz="3900"/>
          </a:p>
        </p:txBody>
      </p:sp>
      <p:sp>
        <p:nvSpPr>
          <p:cNvPr id="13" name="Text"/>
          <p:cNvSpPr txBox="1"/>
          <p:nvPr/>
        </p:nvSpPr>
        <p:spPr>
          <a:xfrm>
            <a:off x="950000" y="3900000"/>
            <a:ext cx="47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623 unassigned articles</a:t>
            </a:r>
            <a:endParaRPr lang="en-US" sz="1700"/>
          </a:p>
        </p:txBody>
      </p:sp>
      <p:sp>
        <p:nvSpPr>
          <p:cNvPr id="14" name="Text"/>
          <p:cNvSpPr txBox="1"/>
          <p:nvPr/>
        </p:nvSpPr>
        <p:spPr>
          <a:xfrm>
            <a:off x="6550000" y="3100000"/>
            <a:ext cx="45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900" b="1">
                <a:solidFill>
                  <a:srgbClr val="1F1F1F"/>
                </a:solidFill>
                <a:latin typeface="Aptos Display"/>
              </a:rPr>
              <a:t xml:space="preserve">70.7%</a:t>
            </a:r>
            <a:endParaRPr lang="en-US" sz="3900"/>
          </a:p>
        </p:txBody>
      </p:sp>
      <p:sp>
        <p:nvSpPr>
          <p:cNvPr id="15" name="Text"/>
          <p:cNvSpPr txBox="1"/>
          <p:nvPr/>
        </p:nvSpPr>
        <p:spPr>
          <a:xfrm>
            <a:off x="6550000" y="3900000"/>
            <a:ext cx="45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1,500 assigned to 37 topics</a:t>
            </a:r>
            <a:endParaRPr lang="en-US" sz="1700"/>
          </a:p>
        </p:txBody>
      </p:sp>
      <p:sp>
        <p:nvSpPr>
          <p:cNvPr id="16" name="Text"/>
          <p:cNvSpPr txBox="1"/>
          <p:nvPr/>
        </p:nvSpPr>
        <p:spPr>
          <a:xfrm>
            <a:off x="950000" y="5000000"/>
            <a:ext cx="103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Treat topic counts as a useful map of model confidence and corpus structure—not a complete classification of every article.</a:t>
            </a:r>
            <a:endParaRPr lang="en-US" sz="1500"/>
          </a:p>
        </p:txBody>
      </p:sp>
      <p:sp>
        <p:nvSpPr>
          <p:cNvPr id="17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outputs/topic_info.csv · outputs/articles_with_topics.csv</a:t>
            </a:r>
            <a:endParaRPr lang="en-US" sz="900"/>
          </a:p>
        </p:txBody>
      </p:sp>
      <p:sp>
        <p:nvSpPr>
          <p:cNvPr id="18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Topic examples make the abstract corpus legible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Representative topic labels connect semantic groupings to recognizable newsroom beats.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620000" y="2250000"/>
            <a:ext cx="3350000" cy="11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0" name="Shape"/>
          <p:cNvSpPr/>
          <p:nvPr/>
        </p:nvSpPr>
        <p:spPr>
          <a:xfrm>
            <a:off x="620000" y="2250000"/>
            <a:ext cx="62000" cy="112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4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SPORT</a:t>
            </a:r>
            <a:endParaRPr lang="en-US" sz="1700"/>
          </a:p>
        </p:txBody>
      </p:sp>
      <p:sp>
        <p:nvSpPr>
          <p:cNvPr id="12" name="Text"/>
          <p:cNvSpPr txBox="1"/>
          <p:nvPr/>
        </p:nvSpPr>
        <p:spPr>
          <a:xfrm>
            <a:off x="840000" y="2850000"/>
            <a:ext cx="2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Cyclisme · 100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course · cyclisme · Tour</a:t>
            </a:r>
            <a:endParaRPr lang="en-US" sz="1300"/>
          </a:p>
        </p:txBody>
      </p:sp>
      <p:sp>
        <p:nvSpPr>
          <p:cNvPr id="13" name="Shape"/>
          <p:cNvSpPr/>
          <p:nvPr/>
        </p:nvSpPr>
        <p:spPr>
          <a:xfrm>
            <a:off x="4320000" y="2250000"/>
            <a:ext cx="3350000" cy="11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4" name="Shape"/>
          <p:cNvSpPr/>
          <p:nvPr/>
        </p:nvSpPr>
        <p:spPr>
          <a:xfrm>
            <a:off x="4320000" y="2250000"/>
            <a:ext cx="62000" cy="112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454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PUBLIC AFFAIRS</a:t>
            </a:r>
            <a:endParaRPr lang="en-US" sz="1700"/>
          </a:p>
        </p:txBody>
      </p:sp>
      <p:sp>
        <p:nvSpPr>
          <p:cNvPr id="16" name="Text"/>
          <p:cNvSpPr txBox="1"/>
          <p:nvPr/>
        </p:nvSpPr>
        <p:spPr>
          <a:xfrm>
            <a:off x="4540000" y="2850000"/>
            <a:ext cx="2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Écoles &amp; jeunesse · 95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élèves · Liège · enseignants</a:t>
            </a:r>
            <a:endParaRPr lang="en-US" sz="1300"/>
          </a:p>
        </p:txBody>
      </p:sp>
      <p:sp>
        <p:nvSpPr>
          <p:cNvPr id="17" name="Shape"/>
          <p:cNvSpPr/>
          <p:nvPr/>
        </p:nvSpPr>
        <p:spPr>
          <a:xfrm>
            <a:off x="8020000" y="2250000"/>
            <a:ext cx="3350000" cy="11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8" name="Shape"/>
          <p:cNvSpPr/>
          <p:nvPr/>
        </p:nvSpPr>
        <p:spPr>
          <a:xfrm>
            <a:off x="8020000" y="2250000"/>
            <a:ext cx="62000" cy="112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824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JUSTICE</a:t>
            </a:r>
            <a:endParaRPr lang="en-US" sz="1700"/>
          </a:p>
        </p:txBody>
      </p:sp>
      <p:sp>
        <p:nvSpPr>
          <p:cNvPr id="20" name="Text"/>
          <p:cNvSpPr txBox="1"/>
          <p:nvPr/>
        </p:nvSpPr>
        <p:spPr>
          <a:xfrm>
            <a:off x="8240000" y="2850000"/>
            <a:ext cx="2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Procès &amp; justice · 73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procès · cour · avocat</a:t>
            </a:r>
            <a:endParaRPr lang="en-US" sz="1300"/>
          </a:p>
        </p:txBody>
      </p:sp>
      <p:sp>
        <p:nvSpPr>
          <p:cNvPr id="21" name="Shape"/>
          <p:cNvSpPr/>
          <p:nvPr/>
        </p:nvSpPr>
        <p:spPr>
          <a:xfrm>
            <a:off x="620000" y="3700000"/>
            <a:ext cx="3350000" cy="11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22" name="Shape"/>
          <p:cNvSpPr/>
          <p:nvPr/>
        </p:nvSpPr>
        <p:spPr>
          <a:xfrm>
            <a:off x="620000" y="3700000"/>
            <a:ext cx="62000" cy="112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840000" y="385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WORLD</a:t>
            </a:r>
            <a:endParaRPr lang="en-US" sz="1700"/>
          </a:p>
        </p:txBody>
      </p:sp>
      <p:sp>
        <p:nvSpPr>
          <p:cNvPr id="24" name="Text"/>
          <p:cNvSpPr txBox="1"/>
          <p:nvPr/>
        </p:nvSpPr>
        <p:spPr>
          <a:xfrm>
            <a:off x="840000" y="4300000"/>
            <a:ext cx="2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Guerre en Ukraine · 73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Ukraine · Russie · drones</a:t>
            </a:r>
            <a:endParaRPr lang="en-US" sz="1300"/>
          </a:p>
        </p:txBody>
      </p:sp>
      <p:sp>
        <p:nvSpPr>
          <p:cNvPr id="25" name="Shape"/>
          <p:cNvSpPr/>
          <p:nvPr/>
        </p:nvSpPr>
        <p:spPr>
          <a:xfrm>
            <a:off x="4320000" y="3700000"/>
            <a:ext cx="3350000" cy="11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26" name="Shape"/>
          <p:cNvSpPr/>
          <p:nvPr/>
        </p:nvSpPr>
        <p:spPr>
          <a:xfrm>
            <a:off x="4320000" y="3700000"/>
            <a:ext cx="62000" cy="112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4540000" y="385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TECH</a:t>
            </a:r>
            <a:endParaRPr lang="en-US" sz="1700"/>
          </a:p>
        </p:txBody>
      </p:sp>
      <p:sp>
        <p:nvSpPr>
          <p:cNvPr id="28" name="Text"/>
          <p:cNvSpPr txBox="1"/>
          <p:nvPr/>
        </p:nvSpPr>
        <p:spPr>
          <a:xfrm>
            <a:off x="4540000" y="4300000"/>
            <a:ext cx="2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IA &amp; technologie · 33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IA · Apple · modèles</a:t>
            </a:r>
            <a:endParaRPr lang="en-US" sz="1300"/>
          </a:p>
        </p:txBody>
      </p:sp>
      <p:sp>
        <p:nvSpPr>
          <p:cNvPr id="29" name="Shape"/>
          <p:cNvSpPr/>
          <p:nvPr/>
        </p:nvSpPr>
        <p:spPr>
          <a:xfrm>
            <a:off x="8020000" y="3700000"/>
            <a:ext cx="3350000" cy="112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30" name="Shape"/>
          <p:cNvSpPr/>
          <p:nvPr/>
        </p:nvSpPr>
        <p:spPr>
          <a:xfrm>
            <a:off x="8020000" y="3700000"/>
            <a:ext cx="62000" cy="112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8240000" y="385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LOCAL</a:t>
            </a:r>
            <a:endParaRPr lang="en-US" sz="1700"/>
          </a:p>
        </p:txBody>
      </p:sp>
      <p:sp>
        <p:nvSpPr>
          <p:cNvPr id="32" name="Text"/>
          <p:cNvSpPr txBox="1"/>
          <p:nvPr/>
        </p:nvSpPr>
        <p:spPr>
          <a:xfrm>
            <a:off x="8240000" y="4300000"/>
            <a:ext cx="2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Budget &amp; gouvernement · 49</a:t>
            </a:r>
            <a:endParaRPr lang="en-US" sz="1300"/>
          </a:p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budget · dette · ministre</a:t>
            </a:r>
            <a:endParaRPr lang="en-US" sz="1300"/>
          </a:p>
        </p:txBody>
      </p:sp>
      <p:sp>
        <p:nvSpPr>
          <p:cNvPr id="33" name="Text"/>
          <p:cNvSpPr txBox="1"/>
          <p:nvPr/>
        </p:nvSpPr>
        <p:spPr>
          <a:xfrm>
            <a:off x="650000" y="5400000"/>
            <a:ext cx="104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400" b="0">
                <a:solidFill>
                  <a:srgbClr val="6B6358"/>
                </a:solidFill>
                <a:latin typeface="Aptos"/>
              </a:rPr>
              <a:t xml:space="preserve">Labels are editorial shorthand; inspect representative articles before drawing conclusions.</a:t>
            </a:r>
            <a:endParaRPr lang="en-US" sz="1400"/>
          </a:p>
        </p:txBody>
      </p:sp>
      <p:sp>
        <p:nvSpPr>
          <p:cNvPr id="34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outputs/topic_info.csv · dashboard/app.py topic labels</a:t>
            </a:r>
            <a:endParaRPr lang="en-US" sz="900"/>
          </a:p>
        </p:txBody>
      </p:sp>
      <p:sp>
        <p:nvSpPr>
          <p:cNvPr id="35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Exploration is built into the deliverable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The Streamlit dashboard links aggregate patterns back to individual articles and visual evidence.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900000" y="2200000"/>
            <a:ext cx="4700000" cy="8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0" name="Shape"/>
          <p:cNvSpPr/>
          <p:nvPr/>
        </p:nvSpPr>
        <p:spPr>
          <a:xfrm>
            <a:off x="900000" y="2200000"/>
            <a:ext cx="85000" cy="85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1120000" y="229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50" b="1">
                <a:solidFill>
                  <a:srgbClr val="1F1F1F"/>
                </a:solidFill>
                <a:latin typeface="Aptos"/>
              </a:rPr>
              <a:t xml:space="preserve">Overview</a:t>
            </a:r>
            <a:endParaRPr lang="en-US" sz="1650"/>
          </a:p>
        </p:txBody>
      </p:sp>
      <p:sp>
        <p:nvSpPr>
          <p:cNvPr id="12" name="Text"/>
          <p:cNvSpPr txBox="1"/>
          <p:nvPr/>
        </p:nvSpPr>
        <p:spPr>
          <a:xfrm>
            <a:off x="1120000" y="26300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6B6358"/>
                </a:solidFill>
                <a:latin typeface="Aptos"/>
              </a:rPr>
              <a:t xml:space="preserve">Corpus size, topic mix and trends</a:t>
            </a:r>
            <a:endParaRPr lang="en-US" sz="1200"/>
          </a:p>
        </p:txBody>
      </p:sp>
      <p:sp>
        <p:nvSpPr>
          <p:cNvPr id="13" name="Shape"/>
          <p:cNvSpPr/>
          <p:nvPr/>
        </p:nvSpPr>
        <p:spPr>
          <a:xfrm>
            <a:off x="6250000" y="2200000"/>
            <a:ext cx="4700000" cy="8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4" name="Shape"/>
          <p:cNvSpPr/>
          <p:nvPr/>
        </p:nvSpPr>
        <p:spPr>
          <a:xfrm>
            <a:off x="6250000" y="2200000"/>
            <a:ext cx="85000" cy="85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6470000" y="229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50" b="1">
                <a:solidFill>
                  <a:srgbClr val="1F1F1F"/>
                </a:solidFill>
                <a:latin typeface="Aptos"/>
              </a:rPr>
              <a:t xml:space="preserve">Key insights</a:t>
            </a:r>
            <a:endParaRPr lang="en-US" sz="1650"/>
          </a:p>
        </p:txBody>
      </p:sp>
      <p:sp>
        <p:nvSpPr>
          <p:cNvPr id="16" name="Text"/>
          <p:cNvSpPr txBox="1"/>
          <p:nvPr/>
        </p:nvSpPr>
        <p:spPr>
          <a:xfrm>
            <a:off x="6470000" y="26300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6B6358"/>
                </a:solidFill>
                <a:latin typeface="Aptos"/>
              </a:rPr>
              <a:t xml:space="preserve">Readable summaries for quick review</a:t>
            </a:r>
            <a:endParaRPr lang="en-US" sz="1200"/>
          </a:p>
        </p:txBody>
      </p:sp>
      <p:sp>
        <p:nvSpPr>
          <p:cNvPr id="17" name="Shape"/>
          <p:cNvSpPr/>
          <p:nvPr/>
        </p:nvSpPr>
        <p:spPr>
          <a:xfrm>
            <a:off x="900000" y="3320000"/>
            <a:ext cx="4700000" cy="8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8" name="Shape"/>
          <p:cNvSpPr/>
          <p:nvPr/>
        </p:nvSpPr>
        <p:spPr>
          <a:xfrm>
            <a:off x="900000" y="3320000"/>
            <a:ext cx="85000" cy="85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1120000" y="341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50" b="1">
                <a:solidFill>
                  <a:srgbClr val="1F1F1F"/>
                </a:solidFill>
                <a:latin typeface="Aptos"/>
              </a:rPr>
              <a:t xml:space="preserve">Topic explorer</a:t>
            </a:r>
            <a:endParaRPr lang="en-US" sz="1650"/>
          </a:p>
        </p:txBody>
      </p:sp>
      <p:sp>
        <p:nvSpPr>
          <p:cNvPr id="20" name="Text"/>
          <p:cNvSpPr txBox="1"/>
          <p:nvPr/>
        </p:nvSpPr>
        <p:spPr>
          <a:xfrm>
            <a:off x="1120000" y="37500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6B6358"/>
                </a:solidFill>
                <a:latin typeface="Aptos"/>
              </a:rPr>
              <a:t xml:space="preserve">Keywords, counts and comparisons</a:t>
            </a:r>
            <a:endParaRPr lang="en-US" sz="1200"/>
          </a:p>
        </p:txBody>
      </p:sp>
      <p:sp>
        <p:nvSpPr>
          <p:cNvPr id="21" name="Shape"/>
          <p:cNvSpPr/>
          <p:nvPr/>
        </p:nvSpPr>
        <p:spPr>
          <a:xfrm>
            <a:off x="6250000" y="3320000"/>
            <a:ext cx="4700000" cy="8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22" name="Shape"/>
          <p:cNvSpPr/>
          <p:nvPr/>
        </p:nvSpPr>
        <p:spPr>
          <a:xfrm>
            <a:off x="6250000" y="3320000"/>
            <a:ext cx="85000" cy="85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6470000" y="341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50" b="1">
                <a:solidFill>
                  <a:srgbClr val="1F1F1F"/>
                </a:solidFill>
                <a:latin typeface="Aptos"/>
              </a:rPr>
              <a:t xml:space="preserve">Article browser</a:t>
            </a:r>
            <a:endParaRPr lang="en-US" sz="1650"/>
          </a:p>
        </p:txBody>
      </p:sp>
      <p:sp>
        <p:nvSpPr>
          <p:cNvPr id="24" name="Text"/>
          <p:cNvSpPr txBox="1"/>
          <p:nvPr/>
        </p:nvSpPr>
        <p:spPr>
          <a:xfrm>
            <a:off x="6470000" y="37500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6B6358"/>
                </a:solidFill>
                <a:latin typeface="Aptos"/>
              </a:rPr>
              <a:t xml:space="preserve">Filter and inspect source stories</a:t>
            </a:r>
            <a:endParaRPr lang="en-US" sz="1200"/>
          </a:p>
        </p:txBody>
      </p:sp>
      <p:sp>
        <p:nvSpPr>
          <p:cNvPr id="25" name="Shape"/>
          <p:cNvSpPr/>
          <p:nvPr/>
        </p:nvSpPr>
        <p:spPr>
          <a:xfrm>
            <a:off x="900000" y="4440000"/>
            <a:ext cx="4700000" cy="8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26" name="Shape"/>
          <p:cNvSpPr/>
          <p:nvPr/>
        </p:nvSpPr>
        <p:spPr>
          <a:xfrm>
            <a:off x="900000" y="4440000"/>
            <a:ext cx="85000" cy="85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1120000" y="453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50" b="1">
                <a:solidFill>
                  <a:srgbClr val="1F1F1F"/>
                </a:solidFill>
                <a:latin typeface="Aptos"/>
              </a:rPr>
              <a:t xml:space="preserve">Article map</a:t>
            </a:r>
            <a:endParaRPr lang="en-US" sz="1650"/>
          </a:p>
        </p:txBody>
      </p:sp>
      <p:sp>
        <p:nvSpPr>
          <p:cNvPr id="28" name="Text"/>
          <p:cNvSpPr txBox="1"/>
          <p:nvPr/>
        </p:nvSpPr>
        <p:spPr>
          <a:xfrm>
            <a:off x="1120000" y="48700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6B6358"/>
                </a:solidFill>
                <a:latin typeface="Aptos"/>
              </a:rPr>
              <a:t xml:space="preserve">Explore semantic neighborhoods</a:t>
            </a:r>
            <a:endParaRPr lang="en-US" sz="1200"/>
          </a:p>
        </p:txBody>
      </p:sp>
      <p:sp>
        <p:nvSpPr>
          <p:cNvPr id="29" name="Shape"/>
          <p:cNvSpPr/>
          <p:nvPr/>
        </p:nvSpPr>
        <p:spPr>
          <a:xfrm>
            <a:off x="6250000" y="4440000"/>
            <a:ext cx="4700000" cy="85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30" name="Shape"/>
          <p:cNvSpPr/>
          <p:nvPr/>
        </p:nvSpPr>
        <p:spPr>
          <a:xfrm>
            <a:off x="6250000" y="4440000"/>
            <a:ext cx="85000" cy="85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6470000" y="453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650" b="1">
                <a:solidFill>
                  <a:srgbClr val="1F1F1F"/>
                </a:solidFill>
                <a:latin typeface="Aptos"/>
              </a:rPr>
              <a:t xml:space="preserve">Visualizations</a:t>
            </a:r>
            <a:endParaRPr lang="en-US" sz="1650"/>
          </a:p>
        </p:txBody>
      </p:sp>
      <p:sp>
        <p:nvSpPr>
          <p:cNvPr id="32" name="Text"/>
          <p:cNvSpPr txBox="1"/>
          <p:nvPr/>
        </p:nvSpPr>
        <p:spPr>
          <a:xfrm>
            <a:off x="6470000" y="48700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200" b="0">
                <a:solidFill>
                  <a:srgbClr val="6B6358"/>
                </a:solidFill>
                <a:latin typeface="Aptos"/>
              </a:rPr>
              <a:t xml:space="preserve">Topic maps, hierarchy and time views</a:t>
            </a:r>
            <a:endParaRPr lang="en-US" sz="1200"/>
          </a:p>
        </p:txBody>
      </p:sp>
      <p:sp>
        <p:nvSpPr>
          <p:cNvPr id="33" name="Text"/>
          <p:cNvSpPr txBox="1"/>
          <p:nvPr/>
        </p:nvSpPr>
        <p:spPr>
          <a:xfrm>
            <a:off x="900000" y="5800000"/>
            <a:ext cx="100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1">
                <a:solidFill>
                  <a:srgbClr val="6B6358"/>
                </a:solidFill>
                <a:latin typeface="Aptos"/>
              </a:rPr>
              <a:t xml:space="preserve">Run locally:  streamlit run dashboard/app.py</a:t>
            </a:r>
            <a:endParaRPr lang="en-US" sz="1300"/>
          </a:p>
        </p:txBody>
      </p:sp>
      <p:sp>
        <p:nvSpPr>
          <p:cNvPr id="34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dashboard/app.py · outputs/*.html</a:t>
            </a:r>
            <a:endParaRPr lang="en-US" sz="900"/>
          </a:p>
        </p:txBody>
      </p:sp>
      <p:sp>
        <p:nvSpPr>
          <p:cNvPr id="35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8F1"/>
          </a:solidFill>
          <a:ln w="6350">
            <a:solidFill>
              <a:srgbClr val="FBF8F1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RTBF  /  COVERAGE INTELLIGENCE</a:t>
            </a:r>
            <a:endParaRPr lang="en-US" sz="1100"/>
          </a:p>
        </p:txBody>
      </p:sp>
      <p:sp>
        <p:nvSpPr>
          <p:cNvPr id="7" name="Text"/>
          <p:cNvSpPr txBox="1"/>
          <p:nvPr/>
        </p:nvSpPr>
        <p:spPr>
          <a:xfrm>
            <a:off x="620000" y="710000"/>
            <a:ext cx="108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100" b="1">
                <a:solidFill>
                  <a:srgbClr val="1F1F1F"/>
                </a:solidFill>
                <a:latin typeface="Aptos Display"/>
              </a:rPr>
              <a:t xml:space="preserve">Read the patterns with context</a:t>
            </a:r>
            <a:endParaRPr lang="en-US" sz="3100"/>
          </a:p>
        </p:txBody>
      </p:sp>
      <p:sp>
        <p:nvSpPr>
          <p:cNvPr id="8" name="Text"/>
          <p:cNvSpPr txBox="1"/>
          <p:nvPr/>
        </p:nvSpPr>
        <p:spPr>
          <a:xfrm>
            <a:off x="620000" y="1460000"/>
            <a:ext cx="1080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500" b="0">
                <a:solidFill>
                  <a:srgbClr val="6B6358"/>
                </a:solidFill>
                <a:latin typeface="Aptos"/>
              </a:rPr>
              <a:t xml:space="preserve">The outputs support exploration and hypothesis building; they do not establish editorial intent or impact.</a:t>
            </a:r>
            <a:endParaRPr lang="en-US" sz="1500"/>
          </a:p>
        </p:txBody>
      </p:sp>
      <p:sp>
        <p:nvSpPr>
          <p:cNvPr id="9" name="Shape"/>
          <p:cNvSpPr/>
          <p:nvPr/>
        </p:nvSpPr>
        <p:spPr>
          <a:xfrm>
            <a:off x="620000" y="2250000"/>
            <a:ext cx="3350000" cy="21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0" name="Shape"/>
          <p:cNvSpPr/>
          <p:nvPr/>
        </p:nvSpPr>
        <p:spPr>
          <a:xfrm>
            <a:off x="620000" y="2250000"/>
            <a:ext cx="62000" cy="2100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84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LABELS ARE APPROXIMATE</a:t>
            </a:r>
            <a:endParaRPr lang="en-US" sz="1700"/>
          </a:p>
        </p:txBody>
      </p:sp>
      <p:sp>
        <p:nvSpPr>
          <p:cNvPr id="12" name="Text"/>
          <p:cNvSpPr txBox="1"/>
          <p:nvPr/>
        </p:nvSpPr>
        <p:spPr>
          <a:xfrm>
            <a:off x="840000" y="2850000"/>
            <a:ext cx="295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Automated topics may merge distinct stories or split one beat across several groups.</a:t>
            </a:r>
            <a:endParaRPr lang="en-US" sz="1300"/>
          </a:p>
        </p:txBody>
      </p:sp>
      <p:sp>
        <p:nvSpPr>
          <p:cNvPr id="13" name="Shape"/>
          <p:cNvSpPr/>
          <p:nvPr/>
        </p:nvSpPr>
        <p:spPr>
          <a:xfrm>
            <a:off x="4980000" y="2250000"/>
            <a:ext cx="3350000" cy="21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4" name="Shape"/>
          <p:cNvSpPr/>
          <p:nvPr/>
        </p:nvSpPr>
        <p:spPr>
          <a:xfrm>
            <a:off x="4980000" y="2250000"/>
            <a:ext cx="62000" cy="210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520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OUTLIERS ARE REAL DATA</a:t>
            </a:r>
            <a:endParaRPr lang="en-US" sz="1700"/>
          </a:p>
        </p:txBody>
      </p:sp>
      <p:sp>
        <p:nvSpPr>
          <p:cNvPr id="16" name="Text"/>
          <p:cNvSpPr txBox="1"/>
          <p:nvPr/>
        </p:nvSpPr>
        <p:spPr>
          <a:xfrm>
            <a:off x="5200000" y="2850000"/>
            <a:ext cx="295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623 articles (29.3%) were not assigned to a modeled topic in the current run.</a:t>
            </a:r>
            <a:endParaRPr lang="en-US" sz="1300"/>
          </a:p>
        </p:txBody>
      </p:sp>
      <p:sp>
        <p:nvSpPr>
          <p:cNvPr id="17" name="Shape"/>
          <p:cNvSpPr/>
          <p:nvPr/>
        </p:nvSpPr>
        <p:spPr>
          <a:xfrm>
            <a:off x="9340000" y="2250000"/>
            <a:ext cx="3350000" cy="2100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6DFCC"/>
            </a:solidFill>
          </a:ln>
        </p:spPr>
      </p:sp>
      <p:sp>
        <p:nvSpPr>
          <p:cNvPr id="18" name="Shape"/>
          <p:cNvSpPr/>
          <p:nvPr/>
        </p:nvSpPr>
        <p:spPr>
          <a:xfrm>
            <a:off x="9340000" y="2250000"/>
            <a:ext cx="62000" cy="2100000"/>
          </a:xfrm>
          <a:prstGeom prst="rect">
            <a:avLst/>
          </a:prstGeom>
          <a:solidFill>
            <a:srgbClr val="2E6F9E"/>
          </a:solidFill>
          <a:ln w="6350">
            <a:solidFill>
              <a:srgbClr val="2E6F9E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9560000" y="2400000"/>
            <a:ext cx="29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00" b="1">
                <a:solidFill>
                  <a:srgbClr val="1F1F1F"/>
                </a:solidFill>
                <a:latin typeface="Aptos"/>
              </a:rPr>
              <a:t xml:space="preserve">DATES NEED CARE</a:t>
            </a:r>
            <a:endParaRPr lang="en-US" sz="1700"/>
          </a:p>
        </p:txBody>
      </p:sp>
      <p:sp>
        <p:nvSpPr>
          <p:cNvPr id="20" name="Text"/>
          <p:cNvSpPr txBox="1"/>
          <p:nvPr/>
        </p:nvSpPr>
        <p:spPr>
          <a:xfrm>
            <a:off x="9560000" y="2850000"/>
            <a:ext cx="295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300" b="0">
                <a:solidFill>
                  <a:srgbClr val="6B6358"/>
                </a:solidFill>
                <a:latin typeface="Aptos"/>
              </a:rPr>
              <a:t xml:space="preserve">The corpus spans 2020–2026; inspect date coverage and collection effects before trend claims.</a:t>
            </a:r>
            <a:endParaRPr lang="en-US" sz="1300"/>
          </a:p>
        </p:txBody>
      </p:sp>
      <p:sp>
        <p:nvSpPr>
          <p:cNvPr id="21" name="Text"/>
          <p:cNvSpPr txBox="1"/>
          <p:nvPr/>
        </p:nvSpPr>
        <p:spPr>
          <a:xfrm>
            <a:off x="620000" y="5000000"/>
            <a:ext cx="1080000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900" b="1">
                <a:solidFill>
                  <a:srgbClr val="1F1F1F"/>
                </a:solidFill>
                <a:latin typeface="Aptos"/>
              </a:rPr>
              <a:t xml:space="preserve">Use representative articles, category metadata and time filters to validate what each topic means.</a:t>
            </a:r>
            <a:endParaRPr lang="en-US" sz="1900"/>
          </a:p>
        </p:txBody>
      </p:sp>
      <p:sp>
        <p:nvSpPr>
          <p:cNvPr id="22" name="Text"/>
          <p:cNvSpPr txBox="1"/>
          <p:nvPr/>
        </p:nvSpPr>
        <p:spPr>
          <a:xfrm>
            <a:off x="620000" y="6488000"/>
            <a:ext cx="94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900" b="0">
                <a:solidFill>
                  <a:srgbClr val="6B6358"/>
                </a:solidFill>
                <a:latin typeface="Aptos"/>
              </a:rPr>
              <a:t xml:space="preserve">Source: project outputs · interpretation notes in README.md</a:t>
            </a:r>
            <a:endParaRPr lang="en-US" sz="900"/>
          </a:p>
        </p:txBody>
      </p:sp>
      <p:sp>
        <p:nvSpPr>
          <p:cNvPr id="23" name="Text"/>
          <p:cNvSpPr txBox="1"/>
          <p:nvPr/>
        </p:nvSpPr>
        <p:spPr>
          <a:xfrm>
            <a:off x="11042000" y="6468000"/>
            <a:ext cx="5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en-US" sz="900" b="1">
                <a:solidFill>
                  <a:srgbClr val="6B6358"/>
                </a:solidFill>
                <a:latin typeface="Aptos"/>
              </a:rPr>
              <a:t xml:space="preserve">09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3" name="Shape"/>
          <p:cNvSpPr/>
          <p:nvPr/>
        </p:nvSpPr>
        <p:spPr>
          <a:xfrm>
            <a:off x="0" y="0"/>
            <a:ext cx="4064000" cy="76000"/>
          </a:xfrm>
          <a:prstGeom prst="rect">
            <a:avLst/>
          </a:prstGeom>
          <a:solidFill>
            <a:srgbClr val="1F1F1F"/>
          </a:solidFill>
          <a:ln w="6350">
            <a:solidFill>
              <a:srgbClr val="1F1F1F"/>
            </a:solidFill>
          </a:ln>
        </p:spPr>
      </p:sp>
      <p:sp>
        <p:nvSpPr>
          <p:cNvPr id="4" name="Shape"/>
          <p:cNvSpPr/>
          <p:nvPr/>
        </p:nvSpPr>
        <p:spPr>
          <a:xfrm>
            <a:off x="4064000" y="0"/>
            <a:ext cx="4064000" cy="76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5" name="Shape"/>
          <p:cNvSpPr/>
          <p:nvPr/>
        </p:nvSpPr>
        <p:spPr>
          <a:xfrm>
            <a:off x="8128000" y="0"/>
            <a:ext cx="4064001" cy="76000"/>
          </a:xfrm>
          <a:prstGeom prst="rect">
            <a:avLst/>
          </a:prstGeom>
          <a:solidFill>
            <a:srgbClr val="ED2939"/>
          </a:solidFill>
          <a:ln w="6350">
            <a:solidFill>
              <a:srgbClr val="ED2939"/>
            </a:solidFill>
          </a:ln>
        </p:spPr>
      </p:sp>
      <p:sp>
        <p:nvSpPr>
          <p:cNvPr id="6" name="Text"/>
          <p:cNvSpPr txBox="1"/>
          <p:nvPr/>
        </p:nvSpPr>
        <p:spPr>
          <a:xfrm>
            <a:off x="620000" y="3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00" b="1">
                <a:solidFill>
                  <a:srgbClr val="6B6358"/>
                </a:solidFill>
                <a:latin typeface="Aptos"/>
              </a:rPr>
              <a:t xml:space="preserve">TAKEAWAY  /  FROM ARCHIVE TO ANALYSIS</a:t>
            </a:r>
            <a:endParaRPr lang="en-US" sz="1100"/>
          </a:p>
        </p:txBody>
      </p:sp>
      <p:sp>
        <p:nvSpPr>
          <p:cNvPr id="7" name="Shape"/>
          <p:cNvSpPr/>
          <p:nvPr/>
        </p:nvSpPr>
        <p:spPr>
          <a:xfrm>
            <a:off x="0" y="0"/>
            <a:ext cx="12192000" cy="110000"/>
          </a:xfrm>
          <a:prstGeom prst="rect">
            <a:avLst/>
          </a:prstGeom>
          <a:solidFill>
            <a:srgbClr val="FAE042"/>
          </a:solidFill>
          <a:ln w="6350">
            <a:solidFill>
              <a:srgbClr val="FAE042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50000" y="900000"/>
            <a:ext cx="105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000" b="1">
                <a:solidFill>
                  <a:srgbClr val="FAE042"/>
                </a:solidFill>
                <a:latin typeface="Aptos Display"/>
              </a:rPr>
              <a:t xml:space="preserve">A reusable foundation for editorial discovery</a:t>
            </a:r>
            <a:endParaRPr lang="en-US" sz="3000"/>
          </a:p>
        </p:txBody>
      </p:sp>
      <p:sp>
        <p:nvSpPr>
          <p:cNvPr id="9" name="Text"/>
          <p:cNvSpPr txBox="1"/>
          <p:nvPr/>
        </p:nvSpPr>
        <p:spPr>
          <a:xfrm>
            <a:off x="850000" y="1900000"/>
            <a:ext cx="1030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3400" b="1">
                <a:solidFill>
                  <a:srgbClr val="FFFFFF"/>
                </a:solidFill>
                <a:latin typeface="Aptos Display"/>
              </a:rPr>
              <a:t xml:space="preserve">2,123 articles.</a:t>
            </a:r>
            <a:endParaRPr lang="en-US" sz="3400"/>
          </a:p>
          <a:p>
            <a:pPr algn="l"/>
            <a:r>
              <a:rPr lang="en-US" sz="3400" b="1">
                <a:solidFill>
                  <a:srgbClr val="FFFFFF"/>
                </a:solidFill>
                <a:latin typeface="Aptos Display"/>
              </a:rPr>
              <a:t xml:space="preserve">37 semantic topics.</a:t>
            </a:r>
            <a:endParaRPr lang="en-US" sz="3400"/>
          </a:p>
          <a:p>
            <a:pPr algn="l"/>
            <a:r>
              <a:rPr lang="en-US" sz="3400" b="1">
                <a:solidFill>
                  <a:srgbClr val="FFFFFF"/>
                </a:solidFill>
                <a:latin typeface="Aptos Display"/>
              </a:rPr>
              <a:t xml:space="preserve">One explorable map.</a:t>
            </a:r>
            <a:endParaRPr lang="en-US" sz="3400"/>
          </a:p>
        </p:txBody>
      </p:sp>
      <p:sp>
        <p:nvSpPr>
          <p:cNvPr id="10" name="Shape"/>
          <p:cNvSpPr/>
          <p:nvPr/>
        </p:nvSpPr>
        <p:spPr>
          <a:xfrm>
            <a:off x="850000" y="3800000"/>
            <a:ext cx="10500000" cy="1200000"/>
          </a:xfrm>
          <a:prstGeom prst="roundRect">
            <a:avLst/>
          </a:prstGeom>
          <a:solidFill>
            <a:srgbClr val="292929"/>
          </a:solidFill>
          <a:ln w="6350">
            <a:solidFill>
              <a:srgbClr val="292929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1100000" y="3990000"/>
            <a:ext cx="99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750" b="0">
                <a:solidFill>
                  <a:srgbClr val="FFFFFF"/>
                </a:solidFill>
                <a:latin typeface="Aptos"/>
              </a:rPr>
              <a:t xml:space="preserve">Next step  →  Review the 623 unassigned articles, refine labels with domain experts, then rerun and compare topic trends.</a:t>
            </a:r>
            <a:endParaRPr lang="en-US" sz="1750"/>
          </a:p>
        </p:txBody>
      </p:sp>
      <p:sp>
        <p:nvSpPr>
          <p:cNvPr id="12" name="Text"/>
          <p:cNvSpPr txBox="1"/>
          <p:nvPr/>
        </p:nvSpPr>
        <p:spPr>
          <a:xfrm>
            <a:off x="850000" y="5900000"/>
            <a:ext cx="9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en-US" sz="1150" b="0">
                <a:solidFill>
                  <a:srgbClr val="BDB7A9"/>
                </a:solidFill>
                <a:latin typeface="Aptos"/>
              </a:rPr>
              <a:t xml:space="preserve">RTBF Coverage Intelligence  ·  Project sprint presentation</a:t>
            </a:r>
            <a:endParaRPr lang="en-US" sz="1150"/>
          </a:p>
        </p:txBody>
      </p:sp>
    </p:spTree>
  </p:cSld>
  <p:clrMapOvr>
    <a:masterClrMapping/>
  </p:clrMapOvr>
</p:sld>
</file>
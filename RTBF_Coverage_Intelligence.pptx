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FAE042" accent2="ED2939" accent3="2E6F9E" accent4="5B8C5A" accent5="8E5A9B" accent6="E07B39" bg1="FFFFFF" bg2="FBF8F1" tx1="1F1F1F" tx2="6B6358" hlink="0563C1" folHlink="954F7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1F1F"/>
          </a:solidFill>
          <a:ln w="6350">
            <a:solidFill>
              <a:srgbClr val="1F1F1F"/>
            </a:solidFill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4064000" cy="76000"/>
          </a:xfrm>
          <a:prstGeom prst="rect">
            <a:avLst/>
          </a:prstGeom>
          <a:solidFill>
            <a:srgbClr val="1F1F1F"/>
          </a:solidFill>
          <a:ln w="6350">
            <a:solidFill>
              <a:srgbClr val="1F1F1F"/>
            </a:solidFill>
          </a:ln>
        </p:spPr>
      </p:sp>
      <p:sp>
        <p:nvSpPr>
          <p:cNvPr id="4" name="Shape"/>
          <p:cNvSpPr/>
          <p:nvPr/>
        </p:nvSpPr>
        <p:spPr>
          <a:xfrm>
            <a:off x="4064000" y="0"/>
            <a:ext cx="4064000" cy="76000"/>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5" name="Shape"/>
          <p:cNvSpPr/>
          <p:nvPr/>
        </p:nvSpPr>
        <p:spPr>
          <a:xfrm>
            <a:off x="8128000" y="0"/>
            <a:ext cx="4064001" cy="76000"/>
          </a:xfrm>
          <a:prstGeom prst="rect">
            <a:avLst/>
          </a:prstGeom>
          <a:solidFill>
            <a:srgbClr val="ED2939"/>
          </a:solidFill>
          <a:ln w="6350">
            <a:solidFill>
              <a:srgbClr val="ED2939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620000" y="30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100" b="1">
                <a:solidFill>
                  <a:srgbClr val="6B6358"/>
                </a:solidFill>
                <a:latin typeface="Aptos"/>
              </a:rPr>
              <a:t xml:space="preserve">DATA STORY  /  RTBF NEWS ANALYSIS</a:t>
            </a:r>
            <a:endParaRPr lang="en-US" sz="1100"/>
          </a:p>
        </p:txBody>
      </p:sp>
      <p:sp>
        <p:nvSpPr>
          <p:cNvPr id="7" name="Shape"/>
          <p:cNvSpPr/>
          <p:nvPr/>
        </p:nvSpPr>
        <p:spPr>
          <a:xfrm>
            <a:off x="0" y="0"/>
            <a:ext cx="12192000" cy="110000"/>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8" name="Shape"/>
          <p:cNvSpPr/>
          <p:nvPr/>
        </p:nvSpPr>
        <p:spPr>
          <a:xfrm>
            <a:off x="0" y="110000"/>
            <a:ext cx="4064000" cy="65000"/>
          </a:xfrm>
          <a:prstGeom prst="rect">
            <a:avLst/>
          </a:prstGeom>
          <a:solidFill>
            <a:srgbClr val="1F1F1F"/>
          </a:solidFill>
          <a:ln w="6350">
            <a:solidFill>
              <a:srgbClr val="1F1F1F"/>
            </a:solidFill>
          </a:ln>
        </p:spPr>
      </p:sp>
      <p:sp>
        <p:nvSpPr>
          <p:cNvPr id="9" name="Shape"/>
          <p:cNvSpPr/>
          <p:nvPr/>
        </p:nvSpPr>
        <p:spPr>
          <a:xfrm>
            <a:off x="4064000" y="110000"/>
            <a:ext cx="4064000" cy="65000"/>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10" name="Shape"/>
          <p:cNvSpPr/>
          <p:nvPr/>
        </p:nvSpPr>
        <p:spPr>
          <a:xfrm>
            <a:off x="8128000" y="110000"/>
            <a:ext cx="4064000" cy="65000"/>
          </a:xfrm>
          <a:prstGeom prst="rect">
            <a:avLst/>
          </a:prstGeom>
          <a:solidFill>
            <a:srgbClr val="ED2939"/>
          </a:solidFill>
          <a:ln w="6350">
            <a:solidFill>
              <a:srgbClr val="ED2939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850000" y="100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1">
                <a:solidFill>
                  <a:srgbClr val="FAE042"/>
                </a:solidFill>
                <a:latin typeface="Aptos"/>
              </a:rPr>
              <a:t xml:space="preserve">BELGIAN NEWS  ·  MULTILINGUAL NLP  ·  EDITORIAL DISCOVERY</a:t>
            </a:r>
            <a:endParaRPr lang="en-US" sz="1200"/>
          </a:p>
        </p:txBody>
      </p:sp>
      <p:sp>
        <p:nvSpPr>
          <p:cNvPr id="12" name="Text"/>
          <p:cNvSpPr txBox="1"/>
          <p:nvPr/>
        </p:nvSpPr>
        <p:spPr>
          <a:xfrm>
            <a:off x="850000" y="1650000"/>
            <a:ext cx="10500000" cy="13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4200" b="1">
                <a:solidFill>
                  <a:srgbClr val="FFFFFF"/>
                </a:solidFill>
                <a:latin typeface="Aptos Display"/>
              </a:rPr>
              <a:t xml:space="preserve">Mapping the</a:t>
            </a:r>
            <a:endParaRPr lang="en-US" sz="4200"/>
          </a:p>
          <a:p>
            <a:pPr algn="l"/>
            <a:r>
              <a:rPr lang="en-US" sz="4200" b="1">
                <a:solidFill>
                  <a:srgbClr val="FFFFFF"/>
                </a:solidFill>
                <a:latin typeface="Aptos Display"/>
              </a:rPr>
              <a:t xml:space="preserve">RTBF news agenda</a:t>
            </a:r>
            <a:endParaRPr lang="en-US" sz="4200"/>
          </a:p>
        </p:txBody>
      </p:sp>
      <p:sp>
        <p:nvSpPr>
          <p:cNvPr id="13" name="Text"/>
          <p:cNvSpPr txBox="1"/>
          <p:nvPr/>
        </p:nvSpPr>
        <p:spPr>
          <a:xfrm>
            <a:off x="900000" y="3550000"/>
            <a:ext cx="93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900" b="0">
                <a:solidFill>
                  <a:srgbClr val="E8E4DA"/>
                </a:solidFill>
                <a:latin typeface="Aptos"/>
              </a:rPr>
              <a:t xml:space="preserve">From 2,123 articles to a navigable landscape of themes</a:t>
            </a:r>
            <a:endParaRPr lang="en-US" sz="1900"/>
          </a:p>
        </p:txBody>
      </p:sp>
      <p:sp>
        <p:nvSpPr>
          <p:cNvPr id="14" name="Shape"/>
          <p:cNvSpPr/>
          <p:nvPr/>
        </p:nvSpPr>
        <p:spPr>
          <a:xfrm>
            <a:off x="900000" y="4750000"/>
            <a:ext cx="3000000" cy="950000"/>
          </a:xfrm>
          <a:prstGeom prst="roundRect">
            <a:avLst/>
          </a:prstGeom>
          <a:solidFill>
            <a:srgbClr val="292929"/>
          </a:solidFill>
          <a:ln w="6350">
            <a:solidFill>
              <a:srgbClr val="292929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1120000" y="489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3200" b="1">
                <a:solidFill>
                  <a:srgbClr val="FAE042"/>
                </a:solidFill>
                <a:latin typeface="Aptos Display"/>
              </a:rPr>
              <a:t xml:space="preserve">2,123</a:t>
            </a:r>
            <a:endParaRPr lang="en-US" sz="3200"/>
          </a:p>
        </p:txBody>
      </p:sp>
      <p:sp>
        <p:nvSpPr>
          <p:cNvPr id="16" name="Text"/>
          <p:cNvSpPr txBox="1"/>
          <p:nvPr/>
        </p:nvSpPr>
        <p:spPr>
          <a:xfrm>
            <a:off x="1120000" y="5300000"/>
            <a:ext cx="26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0">
                <a:solidFill>
                  <a:srgbClr val="FFFFFF"/>
                </a:solidFill>
                <a:latin typeface="Aptos"/>
              </a:rPr>
              <a:t xml:space="preserve">articles analyzed</a:t>
            </a:r>
            <a:endParaRPr lang="en-US" sz="1200"/>
          </a:p>
        </p:txBody>
      </p:sp>
      <p:sp>
        <p:nvSpPr>
          <p:cNvPr id="17" name="Shape"/>
          <p:cNvSpPr/>
          <p:nvPr/>
        </p:nvSpPr>
        <p:spPr>
          <a:xfrm>
            <a:off x="4200000" y="4750000"/>
            <a:ext cx="3000000" cy="950000"/>
          </a:xfrm>
          <a:prstGeom prst="roundRect">
            <a:avLst/>
          </a:prstGeom>
          <a:solidFill>
            <a:srgbClr val="292929"/>
          </a:solidFill>
          <a:ln w="6350">
            <a:solidFill>
              <a:srgbClr val="292929"/>
            </a:solidFill>
          </a:ln>
        </p:spPr>
      </p:sp>
      <p:sp>
        <p:nvSpPr>
          <p:cNvPr id="18" name="Text"/>
          <p:cNvSpPr txBox="1"/>
          <p:nvPr/>
        </p:nvSpPr>
        <p:spPr>
          <a:xfrm>
            <a:off x="4420000" y="489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Aptos Display"/>
              </a:rPr>
              <a:t xml:space="preserve">37</a:t>
            </a:r>
            <a:endParaRPr lang="en-US" sz="3200"/>
          </a:p>
        </p:txBody>
      </p:sp>
      <p:sp>
        <p:nvSpPr>
          <p:cNvPr id="19" name="Text"/>
          <p:cNvSpPr txBox="1"/>
          <p:nvPr/>
        </p:nvSpPr>
        <p:spPr>
          <a:xfrm>
            <a:off x="4420000" y="5300000"/>
            <a:ext cx="26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0">
                <a:solidFill>
                  <a:srgbClr val="FFFFFF"/>
                </a:solidFill>
                <a:latin typeface="Aptos"/>
              </a:rPr>
              <a:t xml:space="preserve">discovered topics</a:t>
            </a:r>
            <a:endParaRPr lang="en-US" sz="1200"/>
          </a:p>
        </p:txBody>
      </p:sp>
      <p:sp>
        <p:nvSpPr>
          <p:cNvPr id="20" name="Shape"/>
          <p:cNvSpPr/>
          <p:nvPr/>
        </p:nvSpPr>
        <p:spPr>
          <a:xfrm>
            <a:off x="7500000" y="4750000"/>
            <a:ext cx="3000000" cy="950000"/>
          </a:xfrm>
          <a:prstGeom prst="roundRect">
            <a:avLst/>
          </a:prstGeom>
          <a:solidFill>
            <a:srgbClr val="292929"/>
          </a:solidFill>
          <a:ln w="6350">
            <a:solidFill>
              <a:srgbClr val="292929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7720000" y="489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3200" b="1">
                <a:solidFill>
                  <a:srgbClr val="ED2939"/>
                </a:solidFill>
                <a:latin typeface="Aptos Display"/>
              </a:rPr>
              <a:t xml:space="preserve">4 days</a:t>
            </a:r>
            <a:endParaRPr lang="en-US" sz="3200"/>
          </a:p>
        </p:txBody>
      </p:sp>
      <p:sp>
        <p:nvSpPr>
          <p:cNvPr id="22" name="Text"/>
          <p:cNvSpPr txBox="1"/>
          <p:nvPr/>
        </p:nvSpPr>
        <p:spPr>
          <a:xfrm>
            <a:off x="7720000" y="5300000"/>
            <a:ext cx="26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0">
                <a:solidFill>
                  <a:srgbClr val="FFFFFF"/>
                </a:solidFill>
                <a:latin typeface="Aptos"/>
              </a:rPr>
              <a:t xml:space="preserve">Timeline</a:t>
            </a:r>
            <a:endParaRPr lang="en-US" sz="1200"/>
          </a:p>
        </p:txBody>
      </p:sp>
      <p:sp>
        <p:nvSpPr>
          <p:cNvPr id="23" name="Text"/>
          <p:cNvSpPr txBox="1"/>
          <p:nvPr/>
        </p:nvSpPr>
        <p:spPr>
          <a:xfrm>
            <a:off x="850000" y="6250000"/>
            <a:ext cx="9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100" b="0">
                <a:solidFill>
                  <a:srgbClr val="BDB7A9"/>
                </a:solidFill>
                <a:latin typeface="Aptos"/>
              </a:rPr>
              <a:t xml:space="preserve">Article dates: 2020-10-01 — 2026-10-09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/&gt;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  /&gt;
          </a:xfrm>
          <a:prstGeom prst="rect">
            <a:avLst/>
          </a:prstGeom>
          <a:solidFill>
            <a:srgbClr val="FBF8F1"/>
          </a:solidFill>
          <a:ln w="6350">
            <a:solidFill>
              <a:srgbClr val="FBF8F1"/>
            </a:solidFill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4064000" cy="76000"/>
            /&gt;
          </a:xfrm>
          <a:prstGeom prst="rect">
            <a:avLst/>
          </a:prstGeom>
          <a:solidFill>
            <a:srgbClr val="1F1F1F"/>
          </a:solidFill>
          <a:ln w="6350">
            <a:solidFill>
              <a:srgbClr val="1F1F1F"/>
            </a:solidFill>
          </a:ln>
        </p:spPr>
      </p:sp>
      <p:sp>
        <p:nvSpPr>
          <p:cNvPr id="4" name="Shape"/>
          <p:cNvSpPr/>
          <p:nvPr/>
        </p:nvSpPr>
        <p:spPr>
          <a:xfrm>
            <a:off x="4064000" y="0"/>
            <a:ext cx="4064000" cy="76000"/>
            /&gt;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5" name="Shape"/>
          <p:cNvSpPr/>
          <p:nvPr/>
        </p:nvSpPr>
        <p:spPr>
          <a:xfrm>
            <a:off x="8128000" y="0"/>
            <a:ext cx="4064001" cy="76000"/>
            /&gt;
          </a:xfrm>
          <a:prstGeom prst="rect">
            <a:avLst/>
          </a:prstGeom>
          <a:solidFill>
            <a:srgbClr val="ED2939"/>
          </a:solidFill>
          <a:ln w="6350">
            <a:solidFill>
              <a:srgbClr val="ED2939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620000" y="300000"/>
            <a:ext cx="8000000" cy="30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100" b="1">
                <a:solidFill>
                  <a:srgbClr val="6B6358"/>
                </a:solidFill>
                <a:latin typeface="Aptos"/>
              </a:rPr>
              <a:t xml:space="preserve">RTBF  /  COVERAGE INTELLIGENCE</a:t>
            </a:r>
            <a:endParaRPr lang="en-US" sz="1100"/>
          </a:p>
        </p:txBody>
      </p:sp>
      <p:sp>
        <p:nvSpPr>
          <p:cNvPr id="7" name="Text"/>
          <p:cNvSpPr txBox="1"/>
          <p:nvPr/>
        </p:nvSpPr>
        <p:spPr>
          <a:xfrm>
            <a:off x="620000" y="710000"/>
            <a:ext cx="10800000" cy="76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3100" b="1">
                <a:solidFill>
                  <a:srgbClr val="1F1F1F"/>
                </a:solidFill>
                <a:latin typeface="Aptos Display"/>
              </a:rPr>
              <a:t xml:space="preserve">A newsroom archive is more than a list of links</a:t>
            </a:r>
            <a:endParaRPr lang="en-US" sz="3100"/>
          </a:p>
        </p:txBody>
      </p:sp>
      <p:sp>
        <p:nvSpPr>
          <p:cNvPr id="8" name="Text"/>
          <p:cNvSpPr txBox="1"/>
          <p:nvPr/>
        </p:nvSpPr>
        <p:spPr>
          <a:xfrm>
            <a:off x="620000" y="1460000"/>
            <a:ext cx="10800000" cy="44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500" b="0">
                <a:solidFill>
                  <a:srgbClr val="6B6358"/>
                </a:solidFill>
                <a:latin typeface="Aptos"/>
              </a:rPr>
              <a:t xml:space="preserve">The project turns public-facing articles into a structured corpus that can be searched, grouped and interpreted.</a:t>
            </a:r>
            <a:endParaRPr lang="en-US" sz="1500"/>
          </a:p>
        </p:txBody>
      </p:sp>
      <p:sp>
        <p:nvSpPr>
          <p:cNvPr id="9" name="Shape"/>
          <p:cNvSpPr/>
          <p:nvPr/>
        </p:nvSpPr>
        <p:spPr>
          <a:xfrm>
            <a:off x="620000" y="2300000"/>
            <a:ext cx="3350000" cy="2050000"/>
            /&gt;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10" name="Shape"/>
          <p:cNvSpPr/>
          <p:nvPr/>
        </p:nvSpPr>
        <p:spPr>
          <a:xfrm>
            <a:off x="620000" y="2300000"/>
            <a:ext cx="62000" cy="2050000"/>
            /&gt;
          </a:xfrm>
          <a:prstGeom prst="rect">
            <a:avLst/>
          </a:prstGeom>
          <a:solidFill>
            <a:srgbClr val="ED2939"/>
          </a:solidFill>
          <a:ln w="6350">
            <a:solidFill>
              <a:srgbClr val="ED2939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840000" y="2450000"/>
            <a:ext cx="2950000" cy="36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700" b="1">
                <a:solidFill>
                  <a:srgbClr val="1F1F1F"/>
                </a:solidFill>
                <a:latin typeface="Aptos"/>
              </a:rPr>
              <a:t xml:space="preserve">THE INPUT</a:t>
            </a:r>
            <a:endParaRPr lang="en-US" sz="1700"/>
          </a:p>
        </p:txBody>
      </p:sp>
      <p:sp>
        <p:nvSpPr>
          <p:cNvPr id="12" name="Text"/>
          <p:cNvSpPr txBox="1"/>
          <p:nvPr/>
        </p:nvSpPr>
        <p:spPr>
          <a:xfrm>
            <a:off x="840000" y="2900000"/>
            <a:ext cx="2950000" cy="135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RTBF article pages</a:t>
            </a:r>
            <a:endParaRPr lang="en-US" sz="1300"/>
          </a:p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Metadata + full text</a:t>
            </a:r>
            <a:endParaRPr lang="en-US" sz="1300"/>
          </a:p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French-language coverage</a:t>
            </a:r>
            <a:endParaRPr lang="en-US" sz="1300"/>
          </a:p>
        </p:txBody>
      </p:sp>
      <p:sp>
        <p:nvSpPr>
          <p:cNvPr id="13" name="Shape"/>
          <p:cNvSpPr/>
          <p:nvPr/>
        </p:nvSpPr>
        <p:spPr>
          <a:xfrm>
            <a:off x="4396000" y="2300000"/>
            <a:ext cx="3350000" cy="2050000"/>
            /&gt;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14" name="Shape"/>
          <p:cNvSpPr/>
          <p:nvPr/>
        </p:nvSpPr>
        <p:spPr>
          <a:xfrm>
            <a:off x="4396000" y="2300000"/>
            <a:ext cx="62000" cy="2050000"/>
            /&gt;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4616000" y="2450000"/>
            <a:ext cx="2950000" cy="36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700" b="1">
                <a:solidFill>
                  <a:srgbClr val="1F1F1F"/>
                </a:solidFill>
                <a:latin typeface="Aptos"/>
              </a:rPr>
              <a:t xml:space="preserve">THE TRANSFORMATION</a:t>
            </a:r>
            <a:endParaRPr lang="en-US" sz="1700"/>
          </a:p>
        </p:txBody>
      </p:sp>
      <p:sp>
        <p:nvSpPr>
          <p:cNvPr id="16" name="Text"/>
          <p:cNvSpPr txBox="1"/>
          <p:nvPr/>
        </p:nvSpPr>
        <p:spPr>
          <a:xfrm>
            <a:off x="4616000" y="2900000"/>
            <a:ext cx="2950000" cy="135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Clean + validate</a:t>
            </a:r>
            <a:endParaRPr lang="en-US" sz="1300"/>
          </a:p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Represent meaning as vectors</a:t>
            </a:r>
            <a:endParaRPr lang="en-US" sz="1300"/>
          </a:p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Group related stories</a:t>
            </a:r>
            <a:endParaRPr lang="en-US" sz="1300"/>
          </a:p>
        </p:txBody>
      </p:sp>
      <p:sp>
        <p:nvSpPr>
          <p:cNvPr id="17" name="Shape"/>
          <p:cNvSpPr/>
          <p:nvPr/>
        </p:nvSpPr>
        <p:spPr>
          <a:xfrm>
            <a:off x="8172000" y="2300000"/>
            <a:ext cx="3350000" cy="2050000"/>
            /&gt;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18" name="Shape"/>
          <p:cNvSpPr/>
          <p:nvPr/>
        </p:nvSpPr>
        <p:spPr>
          <a:xfrm>
            <a:off x="8172000" y="2300000"/>
            <a:ext cx="62000" cy="2050000"/>
            /&gt;
          </a:xfrm>
          <a:prstGeom prst="rect">
            <a:avLst/>
          </a:prstGeom>
          <a:solidFill>
            <a:srgbClr val="2E6F9E"/>
          </a:solidFill>
          <a:ln w="6350">
            <a:solidFill>
              <a:srgbClr val="2E6F9E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8392000" y="2450000"/>
            <a:ext cx="2950000" cy="36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700" b="1">
                <a:solidFill>
                  <a:srgbClr val="1F1F1F"/>
                </a:solidFill>
                <a:latin typeface="Aptos"/>
              </a:rPr>
              <a:t xml:space="preserve">THE OUTPUT</a:t>
            </a:r>
            <a:endParaRPr lang="en-US" sz="1700"/>
          </a:p>
        </p:txBody>
      </p:sp>
      <p:sp>
        <p:nvSpPr>
          <p:cNvPr id="20" name="Text"/>
          <p:cNvSpPr txBox="1"/>
          <p:nvPr/>
        </p:nvSpPr>
        <p:spPr>
          <a:xfrm>
            <a:off x="8392000" y="2900000"/>
            <a:ext cx="2950000" cy="135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Topic and cluster summaries</a:t>
            </a:r>
            <a:endParaRPr lang="en-US" sz="1300"/>
          </a:p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Interactive maps + charts</a:t>
            </a:r>
            <a:endParaRPr lang="en-US" sz="1300"/>
          </a:p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Streamlit exploration</a:t>
            </a:r>
            <a:endParaRPr lang="en-US" sz="1300"/>
          </a:p>
        </p:txBody>
      </p:sp>
      <p:sp>
        <p:nvSpPr>
          <p:cNvPr id="21" name="Text"/>
          <p:cNvSpPr txBox="1"/>
          <p:nvPr/>
        </p:nvSpPr>
        <p:spPr>
          <a:xfrm>
            <a:off x="620000" y="4900000"/>
            <a:ext cx="10600000" cy="65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300" b="1">
                <a:solidFill>
                  <a:srgbClr val="ED2939"/>
                </a:solidFill>
                <a:latin typeface="Aptos"/>
              </a:rPr>
              <a:t xml:space="preserve">Guiding question</a:t>
            </a:r>
            <a:endParaRPr lang="en-US" sz="1300"/>
          </a:p>
        </p:txBody>
      </p:sp>
      <p:sp>
        <p:nvSpPr>
          <p:cNvPr id="22" name="Text"/>
          <p:cNvSpPr txBox="1"/>
          <p:nvPr/>
        </p:nvSpPr>
        <p:spPr>
          <a:xfrm>
            <a:off x="620000" y="5350000"/>
            <a:ext cx="10800000" cy="70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2600" b="1">
                <a:solidFill>
                  <a:srgbClr val="1F1F1F"/>
                </a:solidFill>
                <a:latin typeface="Aptos Display"/>
              </a:rPr>
              <a:t xml:space="preserve">What recurring themes emerge when we read coverage at corpus scale?</a:t>
            </a:r>
            <a:endParaRPr lang="en-US" sz="2600"/>
          </a:p>
        </p:txBody>
      </p:sp>
      <p:sp>
        <p:nvSpPr>
          <p:cNvPr id="23" name="Text"/>
          <p:cNvSpPr txBox="1"/>
          <p:nvPr/>
        </p:nvSpPr>
        <p:spPr>
          <a:xfrm>
            <a:off x="620000" y="6488000"/>
            <a:ext cx="9400000" cy="20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900" b="0">
                <a:solidFill>
                  <a:srgbClr val="6B6358"/>
                </a:solidFill>
                <a:latin typeface="Aptos"/>
              </a:rPr>
              <a:t xml:space="preserve">Source: README.md · project outputs</a:t>
            </a:r>
            <a:endParaRPr lang="en-US" sz="900"/>
          </a:p>
        </p:txBody>
      </p:sp>
      <p:sp>
        <p:nvSpPr>
          <p:cNvPr id="24" name="Text"/>
          <p:cNvSpPr txBox="1"/>
          <p:nvPr/>
        </p:nvSpPr>
        <p:spPr>
          <a:xfrm>
            <a:off x="11042000" y="6468000"/>
            <a:ext cx="500000" cy="22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en-US" sz="900" b="1">
                <a:solidFill>
                  <a:srgbClr val="6B6358"/>
                </a:solidFill>
                <a:latin typeface="Aptos"/>
              </a:rPr>
              <a:t xml:space="preserve">02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/&gt;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  /&gt;
          </a:xfrm>
          <a:prstGeom prst="rect">
            <a:avLst/>
          </a:prstGeom>
          <a:solidFill>
            <a:srgbClr val="FBF8F1"/>
          </a:solidFill>
          <a:ln w="6350">
            <a:solidFill>
              <a:srgbClr val="FBF8F1"/>
            </a:solidFill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4064000" cy="76000"/>
            /&gt;
          </a:xfrm>
          <a:prstGeom prst="rect">
            <a:avLst/>
          </a:prstGeom>
          <a:solidFill>
            <a:srgbClr val="1F1F1F"/>
          </a:solidFill>
          <a:ln w="6350">
            <a:solidFill>
              <a:srgbClr val="1F1F1F"/>
            </a:solidFill>
          </a:ln>
        </p:spPr>
      </p:sp>
      <p:sp>
        <p:nvSpPr>
          <p:cNvPr id="4" name="Shape"/>
          <p:cNvSpPr/>
          <p:nvPr/>
        </p:nvSpPr>
        <p:spPr>
          <a:xfrm>
            <a:off x="4064000" y="0"/>
            <a:ext cx="4064000" cy="76000"/>
            /&gt;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5" name="Shape"/>
          <p:cNvSpPr/>
          <p:nvPr/>
        </p:nvSpPr>
        <p:spPr>
          <a:xfrm>
            <a:off x="8128000" y="0"/>
            <a:ext cx="4064001" cy="76000"/>
            /&gt;
          </a:xfrm>
          <a:prstGeom prst="rect">
            <a:avLst/>
          </a:prstGeom>
          <a:solidFill>
            <a:srgbClr val="ED2939"/>
          </a:solidFill>
          <a:ln w="6350">
            <a:solidFill>
              <a:srgbClr val="ED2939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620000" y="300000"/>
            <a:ext cx="8000000" cy="30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100" b="1">
                <a:solidFill>
                  <a:srgbClr val="6B6358"/>
                </a:solidFill>
                <a:latin typeface="Aptos"/>
              </a:rPr>
              <a:t xml:space="preserve">RTBF  /  COVERAGE INTELLIGENCE</a:t>
            </a:r>
            <a:endParaRPr lang="en-US" sz="1100"/>
          </a:p>
        </p:txBody>
      </p:sp>
      <p:sp>
        <p:nvSpPr>
          <p:cNvPr id="7" name="Text"/>
          <p:cNvSpPr txBox="1"/>
          <p:nvPr/>
        </p:nvSpPr>
        <p:spPr>
          <a:xfrm>
            <a:off x="620000" y="710000"/>
            <a:ext cx="10800000" cy="76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3100" b="1">
                <a:solidFill>
                  <a:srgbClr val="1F1F1F"/>
                </a:solidFill>
                <a:latin typeface="Aptos Display"/>
              </a:rPr>
              <a:t xml:space="preserve">A complete pipeline, from URL to insight</a:t>
            </a:r>
            <a:endParaRPr lang="en-US" sz="3100"/>
          </a:p>
        </p:txBody>
      </p:sp>
      <p:sp>
        <p:nvSpPr>
          <p:cNvPr id="8" name="Text"/>
          <p:cNvSpPr txBox="1"/>
          <p:nvPr/>
        </p:nvSpPr>
        <p:spPr>
          <a:xfrm>
            <a:off x="620000" y="1460000"/>
            <a:ext cx="10800000" cy="44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500" b="0">
                <a:solidFill>
                  <a:srgbClr val="6B6358"/>
                </a:solidFill>
                <a:latin typeface="Aptos"/>
              </a:rPr>
              <a:t xml:space="preserve">Seven stages connect collection, data quality, semantic modeling and human review.</a:t>
            </a:r>
            <a:endParaRPr lang="en-US" sz="1500"/>
          </a:p>
        </p:txBody>
      </p:sp>
      <p:sp>
        <p:nvSpPr>
          <p:cNvPr id="9" name="Shape"/>
          <p:cNvSpPr/>
          <p:nvPr/>
        </p:nvSpPr>
        <p:spPr>
          <a:xfrm>
            <a:off x="530000" y="2650000"/>
            <a:ext cx="1290623" cy="1500000"/>
            /&gt;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10" name="Text"/>
          <p:cNvSpPr txBox="1"/>
          <p:nvPr/>
        </p:nvSpPr>
        <p:spPr>
          <a:xfrm>
            <a:off x="654282" y="2780000"/>
            <a:ext cx="1003818" cy="26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100" b="1">
                <a:solidFill>
                  <a:srgbClr val="ED2939"/>
                </a:solidFill>
                <a:latin typeface="Aptos"/>
              </a:rPr>
              <a:t xml:space="preserve">01</a:t>
            </a:r>
            <a:endParaRPr lang="en-US" sz="1100"/>
          </a:p>
        </p:txBody>
      </p:sp>
      <p:sp>
        <p:nvSpPr>
          <p:cNvPr id="11" name="Text"/>
          <p:cNvSpPr txBox="1"/>
          <p:nvPr/>
        </p:nvSpPr>
        <p:spPr>
          <a:xfrm>
            <a:off x="654282" y="3150000"/>
            <a:ext cx="1051619" cy="38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600" b="1">
                <a:solidFill>
                  <a:srgbClr val="1F1F1F"/>
                </a:solidFill>
                <a:latin typeface="Aptos"/>
              </a:rPr>
              <a:t xml:space="preserve">Collect</a:t>
            </a:r>
            <a:endParaRPr lang="en-US" sz="1600"/>
          </a:p>
        </p:txBody>
      </p:sp>
      <p:sp>
        <p:nvSpPr>
          <p:cNvPr id="12" name="Text"/>
          <p:cNvSpPr txBox="1"/>
          <p:nvPr/>
        </p:nvSpPr>
        <p:spPr>
          <a:xfrm>
            <a:off x="654282" y="3650000"/>
            <a:ext cx="1051619" cy="42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050" b="0">
                <a:solidFill>
                  <a:srgbClr val="6B6358"/>
                </a:solidFill>
                <a:latin typeface="Aptos"/>
              </a:rPr>
              <a:t xml:space="preserve">Archive URLs</a:t>
            </a:r>
            <a:endParaRPr lang="en-US" sz="1050"/>
          </a:p>
        </p:txBody>
      </p:sp>
      <p:sp>
        <p:nvSpPr>
          <p:cNvPr id="13" name="Shape"/>
          <p:cNvSpPr/>
          <p:nvPr/>
        </p:nvSpPr>
        <p:spPr>
          <a:xfrm>
            <a:off x="1839744" y="3320000"/>
            <a:ext cx="219884" cy="90000"/>
            /&gt;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14" name="Shape"/>
          <p:cNvSpPr/>
          <p:nvPr/>
        </p:nvSpPr>
        <p:spPr>
          <a:xfrm>
            <a:off x="2155229" y="2650000"/>
            <a:ext cx="1290623" cy="1500000"/>
            /&gt;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2279512" y="2780000"/>
            <a:ext cx="1003818" cy="26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100" b="1">
                <a:solidFill>
                  <a:srgbClr val="ED2939"/>
                </a:solidFill>
                <a:latin typeface="Aptos"/>
              </a:rPr>
              <a:t xml:space="preserve">02</a:t>
            </a:r>
            <a:endParaRPr lang="en-US" sz="1100"/>
          </a:p>
        </p:txBody>
      </p:sp>
      <p:sp>
        <p:nvSpPr>
          <p:cNvPr id="16" name="Text"/>
          <p:cNvSpPr txBox="1"/>
          <p:nvPr/>
        </p:nvSpPr>
        <p:spPr>
          <a:xfrm>
            <a:off x="2279512" y="3150000"/>
            <a:ext cx="1051619" cy="38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600" b="1">
                <a:solidFill>
                  <a:srgbClr val="1F1F1F"/>
                </a:solidFill>
                <a:latin typeface="Aptos"/>
              </a:rPr>
              <a:t xml:space="preserve">Extract</a:t>
            </a:r>
            <a:endParaRPr lang="en-US" sz="1600"/>
          </a:p>
        </p:txBody>
      </p:sp>
      <p:sp>
        <p:nvSpPr>
          <p:cNvPr id="17" name="Text"/>
          <p:cNvSpPr txBox="1"/>
          <p:nvPr/>
        </p:nvSpPr>
        <p:spPr>
          <a:xfrm>
            <a:off x="2279512" y="3650000"/>
            <a:ext cx="1051619" cy="42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050" b="0">
                <a:solidFill>
                  <a:srgbClr val="6B6358"/>
                </a:solidFill>
                <a:latin typeface="Aptos"/>
              </a:rPr>
              <a:t xml:space="preserve">Parse article pages</a:t>
            </a:r>
            <a:endParaRPr lang="en-US" sz="1050"/>
          </a:p>
        </p:txBody>
      </p:sp>
      <p:sp>
        <p:nvSpPr>
          <p:cNvPr id="18" name="Shape"/>
          <p:cNvSpPr/>
          <p:nvPr/>
        </p:nvSpPr>
        <p:spPr>
          <a:xfrm>
            <a:off x="3464973" y="3320000"/>
            <a:ext cx="219884" cy="90000"/>
            /&gt;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19" name="Shape"/>
          <p:cNvSpPr/>
          <p:nvPr/>
        </p:nvSpPr>
        <p:spPr>
          <a:xfrm>
            <a:off x="3780459" y="2650000"/>
            <a:ext cx="1290623" cy="1500000"/>
            /&gt;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20" name="Text"/>
          <p:cNvSpPr txBox="1"/>
          <p:nvPr/>
        </p:nvSpPr>
        <p:spPr>
          <a:xfrm>
            <a:off x="3904741" y="2780000"/>
            <a:ext cx="1003818" cy="26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100" b="1">
                <a:solidFill>
                  <a:srgbClr val="ED2939"/>
                </a:solidFill>
                <a:latin typeface="Aptos"/>
              </a:rPr>
              <a:t xml:space="preserve">03</a:t>
            </a:r>
            <a:endParaRPr lang="en-US" sz="1100"/>
          </a:p>
        </p:txBody>
      </p:sp>
      <p:sp>
        <p:nvSpPr>
          <p:cNvPr id="21" name="Text"/>
          <p:cNvSpPr txBox="1"/>
          <p:nvPr/>
        </p:nvSpPr>
        <p:spPr>
          <a:xfrm>
            <a:off x="3904741" y="3150000"/>
            <a:ext cx="1051619" cy="38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600" b="1">
                <a:solidFill>
                  <a:srgbClr val="1F1F1F"/>
                </a:solidFill>
                <a:latin typeface="Aptos"/>
              </a:rPr>
              <a:t xml:space="preserve">Clean</a:t>
            </a:r>
            <a:endParaRPr lang="en-US" sz="1600"/>
          </a:p>
        </p:txBody>
      </p:sp>
      <p:sp>
        <p:nvSpPr>
          <p:cNvPr id="22" name="Text"/>
          <p:cNvSpPr txBox="1"/>
          <p:nvPr/>
        </p:nvSpPr>
        <p:spPr>
          <a:xfrm>
            <a:off x="3904741" y="3650000"/>
            <a:ext cx="1051619" cy="42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050" b="0">
                <a:solidFill>
                  <a:srgbClr val="6B6358"/>
                </a:solidFill>
                <a:latin typeface="Aptos"/>
              </a:rPr>
              <a:t xml:space="preserve">Validate records</a:t>
            </a:r>
            <a:endParaRPr lang="en-US" sz="1050"/>
          </a:p>
        </p:txBody>
      </p:sp>
      <p:sp>
        <p:nvSpPr>
          <p:cNvPr id="23" name="Shape"/>
          <p:cNvSpPr/>
          <p:nvPr/>
        </p:nvSpPr>
        <p:spPr>
          <a:xfrm>
            <a:off x="5090203" y="3320000"/>
            <a:ext cx="219884" cy="90000"/>
            /&gt;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24" name="Shape"/>
          <p:cNvSpPr/>
          <p:nvPr/>
        </p:nvSpPr>
        <p:spPr>
          <a:xfrm>
            <a:off x="5405688" y="2650000"/>
            <a:ext cx="1290623" cy="1500000"/>
            /&gt;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25" name="Text"/>
          <p:cNvSpPr txBox="1"/>
          <p:nvPr/>
        </p:nvSpPr>
        <p:spPr>
          <a:xfrm>
            <a:off x="5529971" y="2780000"/>
            <a:ext cx="1003818" cy="26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100" b="1">
                <a:solidFill>
                  <a:srgbClr val="ED2939"/>
                </a:solidFill>
                <a:latin typeface="Aptos"/>
              </a:rPr>
              <a:t xml:space="preserve">04</a:t>
            </a:r>
            <a:endParaRPr lang="en-US" sz="1100"/>
          </a:p>
        </p:txBody>
      </p:sp>
      <p:sp>
        <p:nvSpPr>
          <p:cNvPr id="26" name="Text"/>
          <p:cNvSpPr txBox="1"/>
          <p:nvPr/>
        </p:nvSpPr>
        <p:spPr>
          <a:xfrm>
            <a:off x="5529971" y="3150000"/>
            <a:ext cx="1051619" cy="38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600" b="1">
                <a:solidFill>
                  <a:srgbClr val="1F1F1F"/>
                </a:solidFill>
                <a:latin typeface="Aptos"/>
              </a:rPr>
              <a:t xml:space="preserve">Embed</a:t>
            </a:r>
            <a:endParaRPr lang="en-US" sz="1600"/>
          </a:p>
        </p:txBody>
      </p:sp>
      <p:sp>
        <p:nvSpPr>
          <p:cNvPr id="27" name="Text"/>
          <p:cNvSpPr txBox="1"/>
          <p:nvPr/>
        </p:nvSpPr>
        <p:spPr>
          <a:xfrm>
            <a:off x="5529971" y="3650000"/>
            <a:ext cx="1051619" cy="42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050" b="0">
                <a:solidFill>
                  <a:srgbClr val="6B6358"/>
                </a:solidFill>
                <a:latin typeface="Aptos"/>
              </a:rPr>
              <a:t xml:space="preserve">Multilingual vectors</a:t>
            </a:r>
            <a:endParaRPr lang="en-US" sz="1050"/>
          </a:p>
        </p:txBody>
      </p:sp>
      <p:sp>
        <p:nvSpPr>
          <p:cNvPr id="28" name="Shape"/>
          <p:cNvSpPr/>
          <p:nvPr/>
        </p:nvSpPr>
        <p:spPr>
          <a:xfrm>
            <a:off x="6715432" y="3320000"/>
            <a:ext cx="219884" cy="90000"/>
            /&gt;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29" name="Shape"/>
          <p:cNvSpPr/>
          <p:nvPr/>
        </p:nvSpPr>
        <p:spPr>
          <a:xfrm>
            <a:off x="7030918" y="2650000"/>
            <a:ext cx="1290623" cy="1500000"/>
            /&gt;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30" name="Text"/>
          <p:cNvSpPr txBox="1"/>
          <p:nvPr/>
        </p:nvSpPr>
        <p:spPr>
          <a:xfrm>
            <a:off x="7155200" y="2780000"/>
            <a:ext cx="1003818" cy="26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100" b="1">
                <a:solidFill>
                  <a:srgbClr val="ED2939"/>
                </a:solidFill>
                <a:latin typeface="Aptos"/>
              </a:rPr>
              <a:t xml:space="preserve">05</a:t>
            </a:r>
            <a:endParaRPr lang="en-US" sz="1100"/>
          </a:p>
        </p:txBody>
      </p:sp>
      <p:sp>
        <p:nvSpPr>
          <p:cNvPr id="31" name="Text"/>
          <p:cNvSpPr txBox="1"/>
          <p:nvPr/>
        </p:nvSpPr>
        <p:spPr>
          <a:xfrm>
            <a:off x="7155200" y="3150000"/>
            <a:ext cx="1051619" cy="38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600" b="1">
                <a:solidFill>
                  <a:srgbClr val="1F1F1F"/>
                </a:solidFill>
                <a:latin typeface="Aptos"/>
              </a:rPr>
              <a:t xml:space="preserve">Cluster</a:t>
            </a:r>
            <a:endParaRPr lang="en-US" sz="1600"/>
          </a:p>
        </p:txBody>
      </p:sp>
      <p:sp>
        <p:nvSpPr>
          <p:cNvPr id="32" name="Text"/>
          <p:cNvSpPr txBox="1"/>
          <p:nvPr/>
        </p:nvSpPr>
        <p:spPr>
          <a:xfrm>
            <a:off x="7155200" y="3650000"/>
            <a:ext cx="1051619" cy="42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050" b="0">
                <a:solidFill>
                  <a:srgbClr val="6B6358"/>
                </a:solidFill>
                <a:latin typeface="Aptos"/>
              </a:rPr>
              <a:t xml:space="preserve">Group similar text</a:t>
            </a:r>
            <a:endParaRPr lang="en-US" sz="1050"/>
          </a:p>
        </p:txBody>
      </p:sp>
      <p:sp>
        <p:nvSpPr>
          <p:cNvPr id="33" name="Shape"/>
          <p:cNvSpPr/>
          <p:nvPr/>
        </p:nvSpPr>
        <p:spPr>
          <a:xfrm>
            <a:off x="8340661" y="3320000"/>
            <a:ext cx="219884" cy="90000"/>
            /&gt;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34" name="Shape"/>
          <p:cNvSpPr/>
          <p:nvPr/>
        </p:nvSpPr>
        <p:spPr>
          <a:xfrm>
            <a:off x="8656147" y="2650000"/>
            <a:ext cx="1290623" cy="1500000"/>
            /&gt;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35" name="Text"/>
          <p:cNvSpPr txBox="1"/>
          <p:nvPr/>
        </p:nvSpPr>
        <p:spPr>
          <a:xfrm>
            <a:off x="8780429" y="2780000"/>
            <a:ext cx="1003818" cy="26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100" b="1">
                <a:solidFill>
                  <a:srgbClr val="ED2939"/>
                </a:solidFill>
                <a:latin typeface="Aptos"/>
              </a:rPr>
              <a:t xml:space="preserve">06</a:t>
            </a:r>
            <a:endParaRPr lang="en-US" sz="1100"/>
          </a:p>
        </p:txBody>
      </p:sp>
      <p:sp>
        <p:nvSpPr>
          <p:cNvPr id="36" name="Text"/>
          <p:cNvSpPr txBox="1"/>
          <p:nvPr/>
        </p:nvSpPr>
        <p:spPr>
          <a:xfrm>
            <a:off x="8780429" y="3150000"/>
            <a:ext cx="1051619" cy="38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600" b="1">
                <a:solidFill>
                  <a:srgbClr val="1F1F1F"/>
                </a:solidFill>
                <a:latin typeface="Aptos"/>
              </a:rPr>
              <a:t xml:space="preserve">Model</a:t>
            </a:r>
            <a:endParaRPr lang="en-US" sz="1600"/>
          </a:p>
        </p:txBody>
      </p:sp>
      <p:sp>
        <p:nvSpPr>
          <p:cNvPr id="37" name="Text"/>
          <p:cNvSpPr txBox="1"/>
          <p:nvPr/>
        </p:nvSpPr>
        <p:spPr>
          <a:xfrm>
            <a:off x="8780429" y="3650000"/>
            <a:ext cx="1051619" cy="42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050" b="0">
                <a:solidFill>
                  <a:srgbClr val="6B6358"/>
                </a:solidFill>
                <a:latin typeface="Aptos"/>
              </a:rPr>
              <a:t xml:space="preserve">BERTopic themes</a:t>
            </a:r>
            <a:endParaRPr lang="en-US" sz="1050"/>
          </a:p>
        </p:txBody>
      </p:sp>
      <p:sp>
        <p:nvSpPr>
          <p:cNvPr id="38" name="Shape"/>
          <p:cNvSpPr/>
          <p:nvPr/>
        </p:nvSpPr>
        <p:spPr>
          <a:xfrm>
            <a:off x="9965891" y="3320000"/>
            <a:ext cx="219884" cy="90000"/>
            /&gt;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39" name="Shape"/>
          <p:cNvSpPr/>
          <p:nvPr/>
        </p:nvSpPr>
        <p:spPr>
          <a:xfrm>
            <a:off x="10281377" y="2650000"/>
            <a:ext cx="1290623" cy="1500000"/>
            /&gt;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40" name="Text"/>
          <p:cNvSpPr txBox="1"/>
          <p:nvPr/>
        </p:nvSpPr>
        <p:spPr>
          <a:xfrm>
            <a:off x="10405659" y="2780000"/>
            <a:ext cx="1003818" cy="26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100" b="1">
                <a:solidFill>
                  <a:srgbClr val="ED2939"/>
                </a:solidFill>
                <a:latin typeface="Aptos"/>
              </a:rPr>
              <a:t xml:space="preserve">07</a:t>
            </a:r>
            <a:endParaRPr lang="en-US" sz="1100"/>
          </a:p>
        </p:txBody>
      </p:sp>
      <p:sp>
        <p:nvSpPr>
          <p:cNvPr id="41" name="Text"/>
          <p:cNvSpPr txBox="1"/>
          <p:nvPr/>
        </p:nvSpPr>
        <p:spPr>
          <a:xfrm>
            <a:off x="10405659" y="3150000"/>
            <a:ext cx="1051619" cy="38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600" b="1">
                <a:solidFill>
                  <a:srgbClr val="1F1F1F"/>
                </a:solidFill>
                <a:latin typeface="Aptos"/>
              </a:rPr>
              <a:t xml:space="preserve">Explore</a:t>
            </a:r>
            <a:endParaRPr lang="en-US" sz="1600"/>
          </a:p>
        </p:txBody>
      </p:sp>
      <p:sp>
        <p:nvSpPr>
          <p:cNvPr id="42" name="Text"/>
          <p:cNvSpPr txBox="1"/>
          <p:nvPr/>
        </p:nvSpPr>
        <p:spPr>
          <a:xfrm>
            <a:off x="10405659" y="3650000"/>
            <a:ext cx="1051619" cy="42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050" b="0">
                <a:solidFill>
                  <a:srgbClr val="6B6358"/>
                </a:solidFill>
                <a:latin typeface="Aptos"/>
              </a:rPr>
              <a:t xml:space="preserve">Dashboard + maps</a:t>
            </a:r>
            <a:endParaRPr lang="en-US" sz="1050"/>
          </a:p>
        </p:txBody>
      </p:sp>
      <p:sp>
        <p:nvSpPr>
          <p:cNvPr id="43" name="Text"/>
          <p:cNvSpPr txBox="1"/>
          <p:nvPr/>
        </p:nvSpPr>
        <p:spPr>
          <a:xfrm>
            <a:off x="650000" y="4800000"/>
            <a:ext cx="10400000" cy="55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500" b="0">
                <a:solidFill>
                  <a:srgbClr val="6B6358"/>
                </a:solidFill>
                <a:latin typeface="Aptos"/>
              </a:rPr>
              <a:t xml:space="preserve">Quality gates matter: remove duplicates, incomplete records, non-news pages and very short entries before modeling.</a:t>
            </a:r>
            <a:endParaRPr lang="en-US" sz="1500"/>
          </a:p>
        </p:txBody>
      </p:sp>
      <p:sp>
        <p:nvSpPr>
          <p:cNvPr id="44" name="Text"/>
          <p:cNvSpPr txBox="1"/>
          <p:nvPr/>
        </p:nvSpPr>
        <p:spPr>
          <a:xfrm>
            <a:off x="620000" y="6488000"/>
            <a:ext cx="9400000" cy="20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900" b="0">
                <a:solidFill>
                  <a:srgbClr val="6B6358"/>
                </a:solidFill>
                <a:latin typeface="Aptos"/>
              </a:rPr>
              <a:t xml:space="preserve">Source: README.md · src/archive.py · src/preprocessing.py · src/topic_modeling.py</a:t>
            </a:r>
            <a:endParaRPr lang="en-US" sz="900"/>
          </a:p>
        </p:txBody>
      </p:sp>
      <p:sp>
        <p:nvSpPr>
          <p:cNvPr id="45" name="Text"/>
          <p:cNvSpPr txBox="1"/>
          <p:nvPr/>
        </p:nvSpPr>
        <p:spPr>
          <a:xfrm>
            <a:off x="11042000" y="6468000"/>
            <a:ext cx="500000" cy="22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en-US" sz="900" b="1">
                <a:solidFill>
                  <a:srgbClr val="6B6358"/>
                </a:solidFill>
                <a:latin typeface="Aptos"/>
              </a:rPr>
              <a:t xml:space="preserve">03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/&gt;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  /&gt;
          </a:xfrm>
          <a:prstGeom prst="rect">
            <a:avLst/>
          </a:prstGeom>
          <a:solidFill>
            <a:srgbClr val="FBF8F1"/>
          </a:solidFill>
          <a:ln w="6350">
            <a:solidFill>
              <a:srgbClr val="FBF8F1"/>
            </a:solidFill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4064000" cy="76000"/>
            /&gt;
          </a:xfrm>
          <a:prstGeom prst="rect">
            <a:avLst/>
          </a:prstGeom>
          <a:solidFill>
            <a:srgbClr val="1F1F1F"/>
          </a:solidFill>
          <a:ln w="6350">
            <a:solidFill>
              <a:srgbClr val="1F1F1F"/>
            </a:solidFill>
          </a:ln>
        </p:spPr>
      </p:sp>
      <p:sp>
        <p:nvSpPr>
          <p:cNvPr id="4" name="Shape"/>
          <p:cNvSpPr/>
          <p:nvPr/>
        </p:nvSpPr>
        <p:spPr>
          <a:xfrm>
            <a:off x="4064000" y="0"/>
            <a:ext cx="4064000" cy="76000"/>
            /&gt;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5" name="Shape"/>
          <p:cNvSpPr/>
          <p:nvPr/>
        </p:nvSpPr>
        <p:spPr>
          <a:xfrm>
            <a:off x="8128000" y="0"/>
            <a:ext cx="4064001" cy="76000"/>
            /&gt;
          </a:xfrm>
          <a:prstGeom prst="rect">
            <a:avLst/>
          </a:prstGeom>
          <a:solidFill>
            <a:srgbClr val="ED2939"/>
          </a:solidFill>
          <a:ln w="6350">
            <a:solidFill>
              <a:srgbClr val="ED2939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620000" y="300000"/>
            <a:ext cx="8000000" cy="30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100" b="1">
                <a:solidFill>
                  <a:srgbClr val="6B6358"/>
                </a:solidFill>
                <a:latin typeface="Aptos"/>
              </a:rPr>
              <a:t xml:space="preserve">RTBF  /  COVERAGE INTELLIGENCE</a:t>
            </a:r>
            <a:endParaRPr lang="en-US" sz="1100"/>
          </a:p>
        </p:txBody>
      </p:sp>
      <p:sp>
        <p:nvSpPr>
          <p:cNvPr id="7" name="Text"/>
          <p:cNvSpPr txBox="1"/>
          <p:nvPr/>
        </p:nvSpPr>
        <p:spPr>
          <a:xfrm>
            <a:off x="620000" y="710000"/>
            <a:ext cx="10800000" cy="76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3100" b="1">
                <a:solidFill>
                  <a:srgbClr val="1F1F1F"/>
                </a:solidFill>
                <a:latin typeface="Aptos Display"/>
              </a:rPr>
              <a:t xml:space="preserve">The model sees meaning, not just words</a:t>
            </a:r>
            <a:endParaRPr lang="en-US" sz="3100"/>
          </a:p>
        </p:txBody>
      </p:sp>
      <p:sp>
        <p:nvSpPr>
          <p:cNvPr id="8" name="Text"/>
          <p:cNvSpPr txBox="1"/>
          <p:nvPr/>
        </p:nvSpPr>
        <p:spPr>
          <a:xfrm>
            <a:off x="620000" y="1460000"/>
            <a:ext cx="10800000" cy="44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500" b="0">
                <a:solidFill>
                  <a:srgbClr val="6B6358"/>
                </a:solidFill>
                <a:latin typeface="Aptos"/>
              </a:rPr>
              <a:t xml:space="preserve">Embeddings provide a multilingual semantic space; dimensionality reduction and density clustering reveal structure.</a:t>
            </a:r>
            <a:endParaRPr lang="en-US" sz="1500"/>
          </a:p>
        </p:txBody>
      </p:sp>
      <p:sp>
        <p:nvSpPr>
          <p:cNvPr id="9" name="Shape"/>
          <p:cNvSpPr/>
          <p:nvPr/>
        </p:nvSpPr>
        <p:spPr>
          <a:xfrm>
            <a:off x="620000" y="2250000"/>
            <a:ext cx="3350000" cy="2250000"/>
            /&gt;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10" name="Shape"/>
          <p:cNvSpPr/>
          <p:nvPr/>
        </p:nvSpPr>
        <p:spPr>
          <a:xfrm>
            <a:off x="620000" y="2250000"/>
            <a:ext cx="62000" cy="2250000"/>
            /&gt;
          </a:xfrm>
          <a:prstGeom prst="rect">
            <a:avLst/>
          </a:prstGeom>
          <a:solidFill>
            <a:srgbClr val="ED2939"/>
          </a:solidFill>
          <a:ln w="6350">
            <a:solidFill>
              <a:srgbClr val="ED2939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840000" y="2400000"/>
            <a:ext cx="2950000" cy="36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700" b="1">
                <a:solidFill>
                  <a:srgbClr val="1F1F1F"/>
                </a:solidFill>
                <a:latin typeface="Aptos"/>
              </a:rPr>
              <a:t xml:space="preserve">01  REPRESENT</a:t>
            </a:r>
            <a:endParaRPr lang="en-US" sz="1700"/>
          </a:p>
        </p:txBody>
      </p:sp>
      <p:sp>
        <p:nvSpPr>
          <p:cNvPr id="12" name="Text"/>
          <p:cNvSpPr txBox="1"/>
          <p:nvPr/>
        </p:nvSpPr>
        <p:spPr>
          <a:xfrm>
            <a:off x="840000" y="2850000"/>
            <a:ext cx="2950000" cy="155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Sentence-transformer embeddings turn each article into a vector that captures semantic context.</a:t>
            </a:r>
            <a:endParaRPr lang="en-US" sz="1300"/>
          </a:p>
        </p:txBody>
      </p:sp>
      <p:sp>
        <p:nvSpPr>
          <p:cNvPr id="13" name="Shape"/>
          <p:cNvSpPr/>
          <p:nvPr/>
        </p:nvSpPr>
        <p:spPr>
          <a:xfrm>
            <a:off x="4396000" y="2250000"/>
            <a:ext cx="3350000" cy="2250000"/>
            /&gt;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14" name="Shape"/>
          <p:cNvSpPr/>
          <p:nvPr/>
        </p:nvSpPr>
        <p:spPr>
          <a:xfrm>
            <a:off x="4396000" y="2250000"/>
            <a:ext cx="62000" cy="2250000"/>
            /&gt;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4616000" y="2400000"/>
            <a:ext cx="2950000" cy="36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700" b="1">
                <a:solidFill>
                  <a:srgbClr val="1F1F1F"/>
                </a:solidFill>
                <a:latin typeface="Aptos"/>
              </a:rPr>
              <a:t xml:space="preserve">02  ORGANIZE</a:t>
            </a:r>
            <a:endParaRPr lang="en-US" sz="1700"/>
          </a:p>
        </p:txBody>
      </p:sp>
      <p:sp>
        <p:nvSpPr>
          <p:cNvPr id="16" name="Text"/>
          <p:cNvSpPr txBox="1"/>
          <p:nvPr/>
        </p:nvSpPr>
        <p:spPr>
          <a:xfrm>
            <a:off x="4616000" y="2850000"/>
            <a:ext cx="2950000" cy="155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UMAP + HDBSCAN group dense regions while leaving ambiguous documents unassigned.</a:t>
            </a:r>
            <a:endParaRPr lang="en-US" sz="1300"/>
          </a:p>
        </p:txBody>
      </p:sp>
      <p:sp>
        <p:nvSpPr>
          <p:cNvPr id="17" name="Shape"/>
          <p:cNvSpPr/>
          <p:nvPr/>
        </p:nvSpPr>
        <p:spPr>
          <a:xfrm>
            <a:off x="8172000" y="2250000"/>
            <a:ext cx="3350000" cy="2250000"/>
            /&gt;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18" name="Shape"/>
          <p:cNvSpPr/>
          <p:nvPr/>
        </p:nvSpPr>
        <p:spPr>
          <a:xfrm>
            <a:off x="8172000" y="2250000"/>
            <a:ext cx="62000" cy="2250000"/>
            /&gt;
          </a:xfrm>
          <a:prstGeom prst="rect">
            <a:avLst/>
          </a:prstGeom>
          <a:solidFill>
            <a:srgbClr val="2E6F9E"/>
          </a:solidFill>
          <a:ln w="6350">
            <a:solidFill>
              <a:srgbClr val="2E6F9E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8392000" y="2400000"/>
            <a:ext cx="2950000" cy="36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700" b="1">
                <a:solidFill>
                  <a:srgbClr val="1F1F1F"/>
                </a:solidFill>
                <a:latin typeface="Aptos"/>
              </a:rPr>
              <a:t xml:space="preserve">03  DESCRIBE</a:t>
            </a:r>
            <a:endParaRPr lang="en-US" sz="1700"/>
          </a:p>
        </p:txBody>
      </p:sp>
      <p:sp>
        <p:nvSpPr>
          <p:cNvPr id="20" name="Text"/>
          <p:cNvSpPr txBox="1"/>
          <p:nvPr/>
        </p:nvSpPr>
        <p:spPr>
          <a:xfrm>
            <a:off x="8392000" y="2850000"/>
            <a:ext cx="2950000" cy="155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BERTopic extracts representative terms and documents to make each group inspectable.</a:t>
            </a:r>
            <a:endParaRPr lang="en-US" sz="1300"/>
          </a:p>
        </p:txBody>
      </p:sp>
      <p:sp>
        <p:nvSpPr>
          <p:cNvPr id="21" name="Text"/>
          <p:cNvSpPr txBox="1"/>
          <p:nvPr/>
        </p:nvSpPr>
        <p:spPr>
          <a:xfrm>
            <a:off x="620000" y="5000000"/>
            <a:ext cx="10500000" cy="65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800" b="1">
                <a:solidFill>
                  <a:srgbClr val="1F1F1F"/>
                </a:solidFill>
                <a:latin typeface="Aptos"/>
              </a:rPr>
              <a:t xml:space="preserve">Human interpretation remains in the loop: topic labels are summaries, not ground-truth categories.</a:t>
            </a:r>
            <a:endParaRPr lang="en-US" sz="1800"/>
          </a:p>
        </p:txBody>
      </p:sp>
      <p:sp>
        <p:nvSpPr>
          <p:cNvPr id="22" name="Text"/>
          <p:cNvSpPr txBox="1"/>
          <p:nvPr/>
        </p:nvSpPr>
        <p:spPr>
          <a:xfrm>
            <a:off x="620000" y="6488000"/>
            <a:ext cx="9400000" cy="20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900" b="0">
                <a:solidFill>
                  <a:srgbClr val="6B6358"/>
                </a:solidFill>
                <a:latin typeface="Aptos"/>
              </a:rPr>
              <a:t xml:space="preserve">Source: src/embeddings.py · src/clustering.py · src/topic_modeling.py</a:t>
            </a:r>
            <a:endParaRPr lang="en-US" sz="900"/>
          </a:p>
        </p:txBody>
      </p:sp>
      <p:sp>
        <p:nvSpPr>
          <p:cNvPr id="23" name="Text"/>
          <p:cNvSpPr txBox="1"/>
          <p:nvPr/>
        </p:nvSpPr>
        <p:spPr>
          <a:xfrm>
            <a:off x="11042000" y="6468000"/>
            <a:ext cx="500000" cy="22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en-US" sz="900" b="1">
                <a:solidFill>
                  <a:srgbClr val="6B6358"/>
                </a:solidFill>
                <a:latin typeface="Aptos"/>
              </a:rPr>
              <a:t xml:space="preserve">04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1"/>
          </a:solidFill>
          <a:ln w="6350">
            <a:solidFill>
              <a:srgbClr val="FBF8F1"/>
            </a:solidFill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4064000" cy="76000"/>
          </a:xfrm>
          <a:prstGeom prst="rect">
            <a:avLst/>
          </a:prstGeom>
          <a:solidFill>
            <a:srgbClr val="1F1F1F"/>
          </a:solidFill>
          <a:ln w="6350">
            <a:solidFill>
              <a:srgbClr val="1F1F1F"/>
            </a:solidFill>
          </a:ln>
        </p:spPr>
      </p:sp>
      <p:sp>
        <p:nvSpPr>
          <p:cNvPr id="4" name="Shape"/>
          <p:cNvSpPr/>
          <p:nvPr/>
        </p:nvSpPr>
        <p:spPr>
          <a:xfrm>
            <a:off x="4064000" y="0"/>
            <a:ext cx="4064000" cy="76000"/>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5" name="Shape"/>
          <p:cNvSpPr/>
          <p:nvPr/>
        </p:nvSpPr>
        <p:spPr>
          <a:xfrm>
            <a:off x="8128000" y="0"/>
            <a:ext cx="4064001" cy="76000"/>
          </a:xfrm>
          <a:prstGeom prst="rect">
            <a:avLst/>
          </a:prstGeom>
          <a:solidFill>
            <a:srgbClr val="ED2939"/>
          </a:solidFill>
          <a:ln w="6350">
            <a:solidFill>
              <a:srgbClr val="ED2939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620000" y="30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100" b="1">
                <a:solidFill>
                  <a:srgbClr val="6B6358"/>
                </a:solidFill>
                <a:latin typeface="Aptos"/>
              </a:rPr>
              <a:t xml:space="preserve">RTBF  /  COVERAGE INTELLIGENCE</a:t>
            </a:r>
            <a:endParaRPr lang="en-US" sz="1100"/>
          </a:p>
        </p:txBody>
      </p:sp>
      <p:sp>
        <p:nvSpPr>
          <p:cNvPr id="7" name="Text"/>
          <p:cNvSpPr txBox="1"/>
          <p:nvPr/>
        </p:nvSpPr>
        <p:spPr>
          <a:xfrm>
            <a:off x="620000" y="710000"/>
            <a:ext cx="108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3100" b="1">
                <a:solidFill>
                  <a:srgbClr val="1F1F1F"/>
                </a:solidFill>
                <a:latin typeface="Aptos Display"/>
              </a:rPr>
              <a:t xml:space="preserve">Culture, sport and public life lead</a:t>
            </a:r>
            <a:endParaRPr lang="en-US" sz="3100"/>
          </a:p>
        </p:txBody>
      </p:sp>
      <p:sp>
        <p:nvSpPr>
          <p:cNvPr id="8" name="Text"/>
          <p:cNvSpPr txBox="1"/>
          <p:nvPr/>
        </p:nvSpPr>
        <p:spPr>
          <a:xfrm>
            <a:off x="620000" y="1460000"/>
            <a:ext cx="108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500" b="0">
                <a:solidFill>
                  <a:srgbClr val="6B6358"/>
                </a:solidFill>
                <a:latin typeface="Aptos"/>
              </a:rPr>
              <a:t xml:space="preserve">Article counts for the ten largest modeled topics; unassigned documents are shown separately on the next slide.</a:t>
            </a:r>
            <a:endParaRPr lang="en-US" sz="1500"/>
          </a:p>
        </p:txBody>
      </p:sp>
      <p:sp>
        <p:nvSpPr>
          <p:cNvPr id="9" name="Text"/>
          <p:cNvSpPr txBox="1"/>
          <p:nvPr/>
        </p:nvSpPr>
        <p:spPr>
          <a:xfrm>
            <a:off x="650000" y="2050000"/>
            <a:ext cx="39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1">
                <a:solidFill>
                  <a:srgbClr val="1F1F1F"/>
                </a:solidFill>
                <a:latin typeface="Aptos"/>
              </a:rPr>
              <a:t xml:space="preserve">Cinéma &amp; séries</a:t>
            </a:r>
            <a:endParaRPr lang="en-US" sz="1200"/>
          </a:p>
        </p:txBody>
      </p:sp>
      <p:sp>
        <p:nvSpPr>
          <p:cNvPr id="10" name="Shape"/>
          <p:cNvSpPr/>
          <p:nvPr/>
        </p:nvSpPr>
        <p:spPr>
          <a:xfrm>
            <a:off x="4750000" y="2070000"/>
            <a:ext cx="6000000" cy="190000"/>
          </a:xfrm>
          <a:prstGeom prst="roundRect">
            <a:avLst/>
          </a:prstGeom>
          <a:solidFill>
            <a:srgbClr val="ED2939"/>
          </a:solidFill>
          <a:ln w="6350">
            <a:solidFill>
              <a:srgbClr val="ED2939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10850000" y="205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1">
                <a:solidFill>
                  <a:srgbClr val="1F1F1F"/>
                </a:solidFill>
                <a:latin typeface="Aptos"/>
              </a:rPr>
              <a:t xml:space="preserve">198</a:t>
            </a:r>
            <a:endParaRPr lang="en-US" sz="1200"/>
          </a:p>
        </p:txBody>
      </p:sp>
      <p:sp>
        <p:nvSpPr>
          <p:cNvPr id="12" name="Text"/>
          <p:cNvSpPr txBox="1"/>
          <p:nvPr/>
        </p:nvSpPr>
        <p:spPr>
          <a:xfrm>
            <a:off x="650000" y="2440000"/>
            <a:ext cx="39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0">
                <a:solidFill>
                  <a:srgbClr val="1F1F1F"/>
                </a:solidFill>
                <a:latin typeface="Aptos"/>
              </a:rPr>
              <a:t xml:space="preserve">Musique &amp; concerts</a:t>
            </a:r>
            <a:endParaRPr lang="en-US" sz="1200"/>
          </a:p>
        </p:txBody>
      </p:sp>
      <p:sp>
        <p:nvSpPr>
          <p:cNvPr id="13" name="Shape"/>
          <p:cNvSpPr/>
          <p:nvPr/>
        </p:nvSpPr>
        <p:spPr>
          <a:xfrm>
            <a:off x="4750000" y="2460000"/>
            <a:ext cx="5848484" cy="190000"/>
          </a:xfrm>
          <a:prstGeom prst="roundRect">
            <a:avLst/>
          </a:prstGeom>
          <a:solidFill>
            <a:srgbClr val="F2B705"/>
          </a:solidFill>
          <a:ln w="6350">
            <a:solidFill>
              <a:srgbClr val="F2B705"/>
            </a:solidFill>
          </a:ln>
        </p:spPr>
      </p:sp>
      <p:sp>
        <p:nvSpPr>
          <p:cNvPr id="14" name="Text"/>
          <p:cNvSpPr txBox="1"/>
          <p:nvPr/>
        </p:nvSpPr>
        <p:spPr>
          <a:xfrm>
            <a:off x="10698484" y="244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1">
                <a:solidFill>
                  <a:srgbClr val="1F1F1F"/>
                </a:solidFill>
                <a:latin typeface="Aptos"/>
              </a:rPr>
              <a:t xml:space="preserve">193</a:t>
            </a:r>
            <a:endParaRPr lang="en-US" sz="1200"/>
          </a:p>
        </p:txBody>
      </p:sp>
      <p:sp>
        <p:nvSpPr>
          <p:cNvPr id="15" name="Text"/>
          <p:cNvSpPr txBox="1"/>
          <p:nvPr/>
        </p:nvSpPr>
        <p:spPr>
          <a:xfrm>
            <a:off x="650000" y="2830000"/>
            <a:ext cx="39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0">
                <a:solidFill>
                  <a:srgbClr val="1F1F1F"/>
                </a:solidFill>
                <a:latin typeface="Aptos"/>
              </a:rPr>
              <a:t xml:space="preserve">Cyclisme</a:t>
            </a:r>
            <a:endParaRPr lang="en-US" sz="1200"/>
          </a:p>
        </p:txBody>
      </p:sp>
      <p:sp>
        <p:nvSpPr>
          <p:cNvPr id="16" name="Shape"/>
          <p:cNvSpPr/>
          <p:nvPr/>
        </p:nvSpPr>
        <p:spPr>
          <a:xfrm>
            <a:off x="4750000" y="2850000"/>
            <a:ext cx="3030303" cy="190000"/>
          </a:xfrm>
          <a:prstGeom prst="roundRect">
            <a:avLst/>
          </a:prstGeom>
          <a:solidFill>
            <a:srgbClr val="D8D2C4"/>
          </a:solidFill>
          <a:ln w="6350">
            <a:solidFill>
              <a:srgbClr val="D8D2C4"/>
            </a:solidFill>
          </a:ln>
        </p:spPr>
      </p:sp>
      <p:sp>
        <p:nvSpPr>
          <p:cNvPr id="17" name="Text"/>
          <p:cNvSpPr txBox="1"/>
          <p:nvPr/>
        </p:nvSpPr>
        <p:spPr>
          <a:xfrm>
            <a:off x="7880303" y="283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1">
                <a:solidFill>
                  <a:srgbClr val="1F1F1F"/>
                </a:solidFill>
                <a:latin typeface="Aptos"/>
              </a:rPr>
              <a:t xml:space="preserve">100</a:t>
            </a:r>
            <a:endParaRPr lang="en-US" sz="1200"/>
          </a:p>
        </p:txBody>
      </p:sp>
      <p:sp>
        <p:nvSpPr>
          <p:cNvPr id="18" name="Text"/>
          <p:cNvSpPr txBox="1"/>
          <p:nvPr/>
        </p:nvSpPr>
        <p:spPr>
          <a:xfrm>
            <a:off x="650000" y="3220000"/>
            <a:ext cx="39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0">
                <a:solidFill>
                  <a:srgbClr val="1F1F1F"/>
                </a:solidFill>
                <a:latin typeface="Aptos"/>
              </a:rPr>
              <a:t xml:space="preserve">Écoles &amp; jeunesse</a:t>
            </a:r>
            <a:endParaRPr lang="en-US" sz="1200"/>
          </a:p>
        </p:txBody>
      </p:sp>
      <p:sp>
        <p:nvSpPr>
          <p:cNvPr id="19" name="Shape"/>
          <p:cNvSpPr/>
          <p:nvPr/>
        </p:nvSpPr>
        <p:spPr>
          <a:xfrm>
            <a:off x="4750000" y="3240000"/>
            <a:ext cx="2878787" cy="190000"/>
          </a:xfrm>
          <a:prstGeom prst="roundRect">
            <a:avLst/>
          </a:prstGeom>
          <a:solidFill>
            <a:srgbClr val="D8D2C4"/>
          </a:solidFill>
          <a:ln w="6350">
            <a:solidFill>
              <a:srgbClr val="D8D2C4"/>
            </a:solidFill>
          </a:ln>
        </p:spPr>
      </p:sp>
      <p:sp>
        <p:nvSpPr>
          <p:cNvPr id="20" name="Text"/>
          <p:cNvSpPr txBox="1"/>
          <p:nvPr/>
        </p:nvSpPr>
        <p:spPr>
          <a:xfrm>
            <a:off x="7728787" y="322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1">
                <a:solidFill>
                  <a:srgbClr val="1F1F1F"/>
                </a:solidFill>
                <a:latin typeface="Aptos"/>
              </a:rPr>
              <a:t xml:space="preserve">95</a:t>
            </a:r>
            <a:endParaRPr lang="en-US" sz="1200"/>
          </a:p>
        </p:txBody>
      </p:sp>
      <p:sp>
        <p:nvSpPr>
          <p:cNvPr id="21" name="Text"/>
          <p:cNvSpPr txBox="1"/>
          <p:nvPr/>
        </p:nvSpPr>
        <p:spPr>
          <a:xfrm>
            <a:off x="650000" y="3610000"/>
            <a:ext cx="39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0">
                <a:solidFill>
                  <a:srgbClr val="1F1F1F"/>
                </a:solidFill>
                <a:latin typeface="Aptos"/>
              </a:rPr>
              <a:t xml:space="preserve">Diables Rouges (football)</a:t>
            </a:r>
            <a:endParaRPr lang="en-US" sz="1200"/>
          </a:p>
        </p:txBody>
      </p:sp>
      <p:sp>
        <p:nvSpPr>
          <p:cNvPr id="22" name="Shape"/>
          <p:cNvSpPr/>
          <p:nvPr/>
        </p:nvSpPr>
        <p:spPr>
          <a:xfrm>
            <a:off x="4750000" y="3630000"/>
            <a:ext cx="2272727" cy="190000"/>
          </a:xfrm>
          <a:prstGeom prst="roundRect">
            <a:avLst/>
          </a:prstGeom>
          <a:solidFill>
            <a:srgbClr val="D8D2C4"/>
          </a:solidFill>
          <a:ln w="6350">
            <a:solidFill>
              <a:srgbClr val="D8D2C4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7122727" y="361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1">
                <a:solidFill>
                  <a:srgbClr val="1F1F1F"/>
                </a:solidFill>
                <a:latin typeface="Aptos"/>
              </a:rPr>
              <a:t xml:space="preserve">75</a:t>
            </a:r>
            <a:endParaRPr lang="en-US" sz="1200"/>
          </a:p>
        </p:txBody>
      </p:sp>
      <p:sp>
        <p:nvSpPr>
          <p:cNvPr id="24" name="Text"/>
          <p:cNvSpPr txBox="1"/>
          <p:nvPr/>
        </p:nvSpPr>
        <p:spPr>
          <a:xfrm>
            <a:off x="650000" y="4000000"/>
            <a:ext cx="39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0">
                <a:solidFill>
                  <a:srgbClr val="1F1F1F"/>
                </a:solidFill>
                <a:latin typeface="Aptos"/>
              </a:rPr>
              <a:t xml:space="preserve">Procès &amp; justice</a:t>
            </a:r>
            <a:endParaRPr lang="en-US" sz="1200"/>
          </a:p>
        </p:txBody>
      </p:sp>
      <p:sp>
        <p:nvSpPr>
          <p:cNvPr id="25" name="Shape"/>
          <p:cNvSpPr/>
          <p:nvPr/>
        </p:nvSpPr>
        <p:spPr>
          <a:xfrm>
            <a:off x="4750000" y="4020000"/>
            <a:ext cx="2212121" cy="190000"/>
          </a:xfrm>
          <a:prstGeom prst="roundRect">
            <a:avLst/>
          </a:prstGeom>
          <a:solidFill>
            <a:srgbClr val="D8D2C4"/>
          </a:solidFill>
          <a:ln w="6350">
            <a:solidFill>
              <a:srgbClr val="D8D2C4"/>
            </a:solidFill>
          </a:ln>
        </p:spPr>
      </p:sp>
      <p:sp>
        <p:nvSpPr>
          <p:cNvPr id="26" name="Text"/>
          <p:cNvSpPr txBox="1"/>
          <p:nvPr/>
        </p:nvSpPr>
        <p:spPr>
          <a:xfrm>
            <a:off x="7062121" y="400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1">
                <a:solidFill>
                  <a:srgbClr val="1F1F1F"/>
                </a:solidFill>
                <a:latin typeface="Aptos"/>
              </a:rPr>
              <a:t xml:space="preserve">73</a:t>
            </a:r>
            <a:endParaRPr lang="en-US" sz="1200"/>
          </a:p>
        </p:txBody>
      </p:sp>
      <p:sp>
        <p:nvSpPr>
          <p:cNvPr id="27" name="Text"/>
          <p:cNvSpPr txBox="1"/>
          <p:nvPr/>
        </p:nvSpPr>
        <p:spPr>
          <a:xfrm>
            <a:off x="650000" y="4390000"/>
            <a:ext cx="39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0">
                <a:solidFill>
                  <a:srgbClr val="1F1F1F"/>
                </a:solidFill>
                <a:latin typeface="Aptos"/>
              </a:rPr>
              <a:t xml:space="preserve">Guerre en Ukraine</a:t>
            </a:r>
            <a:endParaRPr lang="en-US" sz="1200"/>
          </a:p>
        </p:txBody>
      </p:sp>
      <p:sp>
        <p:nvSpPr>
          <p:cNvPr id="28" name="Shape"/>
          <p:cNvSpPr/>
          <p:nvPr/>
        </p:nvSpPr>
        <p:spPr>
          <a:xfrm>
            <a:off x="4750000" y="4410000"/>
            <a:ext cx="2212121" cy="190000"/>
          </a:xfrm>
          <a:prstGeom prst="roundRect">
            <a:avLst/>
          </a:prstGeom>
          <a:solidFill>
            <a:srgbClr val="D8D2C4"/>
          </a:solidFill>
          <a:ln w="6350">
            <a:solidFill>
              <a:srgbClr val="D8D2C4"/>
            </a:solidFill>
          </a:ln>
        </p:spPr>
      </p:sp>
      <p:sp>
        <p:nvSpPr>
          <p:cNvPr id="29" name="Text"/>
          <p:cNvSpPr txBox="1"/>
          <p:nvPr/>
        </p:nvSpPr>
        <p:spPr>
          <a:xfrm>
            <a:off x="7062121" y="439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1">
                <a:solidFill>
                  <a:srgbClr val="1F1F1F"/>
                </a:solidFill>
                <a:latin typeface="Aptos"/>
              </a:rPr>
              <a:t xml:space="preserve">73</a:t>
            </a:r>
            <a:endParaRPr lang="en-US" sz="1200"/>
          </a:p>
        </p:txBody>
      </p:sp>
      <p:sp>
        <p:nvSpPr>
          <p:cNvPr id="30" name="Text"/>
          <p:cNvSpPr txBox="1"/>
          <p:nvPr/>
        </p:nvSpPr>
        <p:spPr>
          <a:xfrm>
            <a:off x="650000" y="4780000"/>
            <a:ext cx="39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0">
                <a:solidFill>
                  <a:srgbClr val="1F1F1F"/>
                </a:solidFill>
                <a:latin typeface="Aptos"/>
              </a:rPr>
              <a:t xml:space="preserve">Jeux vidéo</a:t>
            </a:r>
            <a:endParaRPr lang="en-US" sz="1200"/>
          </a:p>
        </p:txBody>
      </p:sp>
      <p:sp>
        <p:nvSpPr>
          <p:cNvPr id="31" name="Shape"/>
          <p:cNvSpPr/>
          <p:nvPr/>
        </p:nvSpPr>
        <p:spPr>
          <a:xfrm>
            <a:off x="4750000" y="4800000"/>
            <a:ext cx="1787878" cy="190000"/>
          </a:xfrm>
          <a:prstGeom prst="roundRect">
            <a:avLst/>
          </a:prstGeom>
          <a:solidFill>
            <a:srgbClr val="D8D2C4"/>
          </a:solidFill>
          <a:ln w="6350">
            <a:solidFill>
              <a:srgbClr val="D8D2C4"/>
            </a:solidFill>
          </a:ln>
        </p:spPr>
      </p:sp>
      <p:sp>
        <p:nvSpPr>
          <p:cNvPr id="32" name="Text"/>
          <p:cNvSpPr txBox="1"/>
          <p:nvPr/>
        </p:nvSpPr>
        <p:spPr>
          <a:xfrm>
            <a:off x="6637878" y="478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1">
                <a:solidFill>
                  <a:srgbClr val="1F1F1F"/>
                </a:solidFill>
                <a:latin typeface="Aptos"/>
              </a:rPr>
              <a:t xml:space="preserve">59</a:t>
            </a:r>
            <a:endParaRPr lang="en-US" sz="1200"/>
          </a:p>
        </p:txBody>
      </p:sp>
      <p:sp>
        <p:nvSpPr>
          <p:cNvPr id="33" name="Text"/>
          <p:cNvSpPr txBox="1"/>
          <p:nvPr/>
        </p:nvSpPr>
        <p:spPr>
          <a:xfrm>
            <a:off x="650000" y="5170000"/>
            <a:ext cx="39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0">
                <a:solidFill>
                  <a:srgbClr val="1F1F1F"/>
                </a:solidFill>
                <a:latin typeface="Aptos"/>
              </a:rPr>
              <a:t xml:space="preserve">Budget &amp; gouvernement</a:t>
            </a:r>
            <a:endParaRPr lang="en-US" sz="1200"/>
          </a:p>
        </p:txBody>
      </p:sp>
      <p:sp>
        <p:nvSpPr>
          <p:cNvPr id="34" name="Shape"/>
          <p:cNvSpPr/>
          <p:nvPr/>
        </p:nvSpPr>
        <p:spPr>
          <a:xfrm>
            <a:off x="4750000" y="5190000"/>
            <a:ext cx="1484848" cy="190000"/>
          </a:xfrm>
          <a:prstGeom prst="roundRect">
            <a:avLst/>
          </a:prstGeom>
          <a:solidFill>
            <a:srgbClr val="D8D2C4"/>
          </a:solidFill>
          <a:ln w="6350">
            <a:solidFill>
              <a:srgbClr val="D8D2C4"/>
            </a:solidFill>
          </a:ln>
        </p:spPr>
      </p:sp>
      <p:sp>
        <p:nvSpPr>
          <p:cNvPr id="35" name="Text"/>
          <p:cNvSpPr txBox="1"/>
          <p:nvPr/>
        </p:nvSpPr>
        <p:spPr>
          <a:xfrm>
            <a:off x="6334848" y="517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1">
                <a:solidFill>
                  <a:srgbClr val="1F1F1F"/>
                </a:solidFill>
                <a:latin typeface="Aptos"/>
              </a:rPr>
              <a:t xml:space="preserve">49</a:t>
            </a:r>
            <a:endParaRPr lang="en-US" sz="1200"/>
          </a:p>
        </p:txBody>
      </p:sp>
      <p:sp>
        <p:nvSpPr>
          <p:cNvPr id="36" name="Text"/>
          <p:cNvSpPr txBox="1"/>
          <p:nvPr/>
        </p:nvSpPr>
        <p:spPr>
          <a:xfrm>
            <a:off x="650000" y="5560000"/>
            <a:ext cx="3900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0">
                <a:solidFill>
                  <a:srgbClr val="1F1F1F"/>
                </a:solidFill>
                <a:latin typeface="Aptos"/>
              </a:rPr>
              <a:t xml:space="preserve">Météo</a:t>
            </a:r>
            <a:endParaRPr lang="en-US" sz="1200"/>
          </a:p>
        </p:txBody>
      </p:sp>
      <p:sp>
        <p:nvSpPr>
          <p:cNvPr id="37" name="Shape"/>
          <p:cNvSpPr/>
          <p:nvPr/>
        </p:nvSpPr>
        <p:spPr>
          <a:xfrm>
            <a:off x="4750000" y="5580000"/>
            <a:ext cx="1333333" cy="190000"/>
          </a:xfrm>
          <a:prstGeom prst="roundRect">
            <a:avLst/>
          </a:prstGeom>
          <a:solidFill>
            <a:srgbClr val="D8D2C4"/>
          </a:solidFill>
          <a:ln w="6350">
            <a:solidFill>
              <a:srgbClr val="D8D2C4"/>
            </a:solidFill>
          </a:ln>
        </p:spPr>
      </p:sp>
      <p:sp>
        <p:nvSpPr>
          <p:cNvPr id="38" name="Text"/>
          <p:cNvSpPr txBox="1"/>
          <p:nvPr/>
        </p:nvSpPr>
        <p:spPr>
          <a:xfrm>
            <a:off x="6183333" y="556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1">
                <a:solidFill>
                  <a:srgbClr val="1F1F1F"/>
                </a:solidFill>
                <a:latin typeface="Aptos"/>
              </a:rPr>
              <a:t xml:space="preserve">44</a:t>
            </a:r>
            <a:endParaRPr lang="en-US" sz="1200"/>
          </a:p>
        </p:txBody>
      </p:sp>
      <p:sp>
        <p:nvSpPr>
          <p:cNvPr id="39" name="Text"/>
          <p:cNvSpPr txBox="1"/>
          <p:nvPr/>
        </p:nvSpPr>
        <p:spPr>
          <a:xfrm>
            <a:off x="650000" y="6000000"/>
            <a:ext cx="10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300" b="1">
                <a:solidFill>
                  <a:srgbClr val="6B6358"/>
                </a:solidFill>
                <a:latin typeface="Aptos"/>
              </a:rPr>
              <a:t xml:space="preserve">Top 2: Cinéma &amp; séries (198)  ·  Musique &amp; concerts (193)  ·  Cyclisme (100)</a:t>
            </a:r>
            <a:endParaRPr lang="en-US" sz="1300"/>
          </a:p>
        </p:txBody>
      </p:sp>
      <p:sp>
        <p:nvSpPr>
          <p:cNvPr id="40" name="Text"/>
          <p:cNvSpPr txBox="1"/>
          <p:nvPr/>
        </p:nvSpPr>
        <p:spPr>
          <a:xfrm>
            <a:off x="620000" y="6488000"/>
            <a:ext cx="94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900" b="0">
                <a:solidFill>
                  <a:srgbClr val="6B6358"/>
                </a:solidFill>
                <a:latin typeface="Aptos"/>
              </a:rPr>
              <a:t xml:space="preserve">Source: outputs/topic_info.csv · counts sum to 1,500 assigned articles across 37 topics</a:t>
            </a:r>
            <a:endParaRPr lang="en-US" sz="900"/>
          </a:p>
        </p:txBody>
      </p:sp>
      <p:sp>
        <p:nvSpPr>
          <p:cNvPr id="41" name="Text"/>
          <p:cNvSpPr txBox="1"/>
          <p:nvPr/>
        </p:nvSpPr>
        <p:spPr>
          <a:xfrm>
            <a:off x="11042000" y="6468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en-US" sz="900" b="1">
                <a:solidFill>
                  <a:srgbClr val="6B6358"/>
                </a:solidFill>
                <a:latin typeface="Aptos"/>
              </a:rPr>
              <a:t xml:space="preserve">05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1"/>
          </a:solidFill>
          <a:ln w="6350">
            <a:solidFill>
              <a:srgbClr val="FBF8F1"/>
            </a:solidFill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4064000" cy="76000"/>
          </a:xfrm>
          <a:prstGeom prst="rect">
            <a:avLst/>
          </a:prstGeom>
          <a:solidFill>
            <a:srgbClr val="1F1F1F"/>
          </a:solidFill>
          <a:ln w="6350">
            <a:solidFill>
              <a:srgbClr val="1F1F1F"/>
            </a:solidFill>
          </a:ln>
        </p:spPr>
      </p:sp>
      <p:sp>
        <p:nvSpPr>
          <p:cNvPr id="4" name="Shape"/>
          <p:cNvSpPr/>
          <p:nvPr/>
        </p:nvSpPr>
        <p:spPr>
          <a:xfrm>
            <a:off x="4064000" y="0"/>
            <a:ext cx="4064000" cy="76000"/>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5" name="Shape"/>
          <p:cNvSpPr/>
          <p:nvPr/>
        </p:nvSpPr>
        <p:spPr>
          <a:xfrm>
            <a:off x="8128000" y="0"/>
            <a:ext cx="4064001" cy="76000"/>
          </a:xfrm>
          <a:prstGeom prst="rect">
            <a:avLst/>
          </a:prstGeom>
          <a:solidFill>
            <a:srgbClr val="ED2939"/>
          </a:solidFill>
          <a:ln w="6350">
            <a:solidFill>
              <a:srgbClr val="ED2939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620000" y="30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100" b="1">
                <a:solidFill>
                  <a:srgbClr val="6B6358"/>
                </a:solidFill>
                <a:latin typeface="Aptos"/>
              </a:rPr>
              <a:t xml:space="preserve">RTBF  /  COVERAGE INTELLIGENCE</a:t>
            </a:r>
            <a:endParaRPr lang="en-US" sz="1100"/>
          </a:p>
        </p:txBody>
      </p:sp>
      <p:sp>
        <p:nvSpPr>
          <p:cNvPr id="7" name="Text"/>
          <p:cNvSpPr txBox="1"/>
          <p:nvPr/>
        </p:nvSpPr>
        <p:spPr>
          <a:xfrm>
            <a:off x="620000" y="710000"/>
            <a:ext cx="108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3100" b="1">
                <a:solidFill>
                  <a:srgbClr val="1F1F1F"/>
                </a:solidFill>
                <a:latin typeface="Aptos Display"/>
              </a:rPr>
              <a:t xml:space="preserve">A large share stays outside the topics</a:t>
            </a:r>
            <a:endParaRPr lang="en-US" sz="3100"/>
          </a:p>
        </p:txBody>
      </p:sp>
      <p:sp>
        <p:nvSpPr>
          <p:cNvPr id="8" name="Text"/>
          <p:cNvSpPr txBox="1"/>
          <p:nvPr/>
        </p:nvSpPr>
        <p:spPr>
          <a:xfrm>
            <a:off x="620000" y="1460000"/>
            <a:ext cx="108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500" b="0">
                <a:solidFill>
                  <a:srgbClr val="6B6358"/>
                </a:solidFill>
                <a:latin typeface="Aptos"/>
              </a:rPr>
              <a:t xml:space="preserve">BERTopic assigns an outlier label when a document does not fit a dense topic cluster confidently.</a:t>
            </a:r>
            <a:endParaRPr lang="en-US" sz="1500"/>
          </a:p>
        </p:txBody>
      </p:sp>
      <p:sp>
        <p:nvSpPr>
          <p:cNvPr id="9" name="Shape"/>
          <p:cNvSpPr/>
          <p:nvPr/>
        </p:nvSpPr>
        <p:spPr>
          <a:xfrm>
            <a:off x="900000" y="2300000"/>
            <a:ext cx="10300000" cy="450000"/>
          </a:xfrm>
          <a:prstGeom prst="roundRect">
            <a:avLst/>
          </a:prstGeom>
          <a:solidFill>
            <a:srgbClr val="E6DFCC"/>
          </a:solidFill>
          <a:ln w="6350">
            <a:solidFill>
              <a:srgbClr val="E6DFCC"/>
            </a:solidFill>
          </a:ln>
        </p:spPr>
      </p:sp>
      <p:sp>
        <p:nvSpPr>
          <p:cNvPr id="10" name="Shape"/>
          <p:cNvSpPr/>
          <p:nvPr/>
        </p:nvSpPr>
        <p:spPr>
          <a:xfrm>
            <a:off x="900000" y="2300000"/>
            <a:ext cx="3022562" cy="450000"/>
          </a:xfrm>
          <a:prstGeom prst="roundRect">
            <a:avLst/>
          </a:prstGeom>
          <a:solidFill>
            <a:srgbClr val="ED2939"/>
          </a:solidFill>
          <a:ln w="6350">
            <a:solidFill>
              <a:srgbClr val="ED2939"/>
            </a:solidFill>
          </a:ln>
        </p:spPr>
      </p:sp>
      <p:sp>
        <p:nvSpPr>
          <p:cNvPr id="11" name="Shape"/>
          <p:cNvSpPr/>
          <p:nvPr/>
        </p:nvSpPr>
        <p:spPr>
          <a:xfrm>
            <a:off x="3922562" y="2300000"/>
            <a:ext cx="7277437" cy="450000"/>
          </a:xfrm>
          <a:prstGeom prst="round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12" name="Text"/>
          <p:cNvSpPr txBox="1"/>
          <p:nvPr/>
        </p:nvSpPr>
        <p:spPr>
          <a:xfrm>
            <a:off x="950000" y="3100000"/>
            <a:ext cx="47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3900" b="1">
                <a:solidFill>
                  <a:srgbClr val="ED2939"/>
                </a:solidFill>
                <a:latin typeface="Aptos Display"/>
              </a:rPr>
              <a:t xml:space="preserve">29.3%</a:t>
            </a:r>
            <a:endParaRPr lang="en-US" sz="3900"/>
          </a:p>
        </p:txBody>
      </p:sp>
      <p:sp>
        <p:nvSpPr>
          <p:cNvPr id="13" name="Text"/>
          <p:cNvSpPr txBox="1"/>
          <p:nvPr/>
        </p:nvSpPr>
        <p:spPr>
          <a:xfrm>
            <a:off x="950000" y="3900000"/>
            <a:ext cx="47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700" b="1">
                <a:solidFill>
                  <a:srgbClr val="1F1F1F"/>
                </a:solidFill>
                <a:latin typeface="Aptos"/>
              </a:rPr>
              <a:t xml:space="preserve">623 unassigned articles</a:t>
            </a:r>
            <a:endParaRPr lang="en-US" sz="1700"/>
          </a:p>
        </p:txBody>
      </p:sp>
      <p:sp>
        <p:nvSpPr>
          <p:cNvPr id="14" name="Text"/>
          <p:cNvSpPr txBox="1"/>
          <p:nvPr/>
        </p:nvSpPr>
        <p:spPr>
          <a:xfrm>
            <a:off x="6550000" y="3100000"/>
            <a:ext cx="45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3900" b="1">
                <a:solidFill>
                  <a:srgbClr val="1F1F1F"/>
                </a:solidFill>
                <a:latin typeface="Aptos Display"/>
              </a:rPr>
              <a:t xml:space="preserve">70.7%</a:t>
            </a:r>
            <a:endParaRPr lang="en-US" sz="3900"/>
          </a:p>
        </p:txBody>
      </p:sp>
      <p:sp>
        <p:nvSpPr>
          <p:cNvPr id="15" name="Text"/>
          <p:cNvSpPr txBox="1"/>
          <p:nvPr/>
        </p:nvSpPr>
        <p:spPr>
          <a:xfrm>
            <a:off x="6550000" y="3900000"/>
            <a:ext cx="45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700" b="1">
                <a:solidFill>
                  <a:srgbClr val="1F1F1F"/>
                </a:solidFill>
                <a:latin typeface="Aptos"/>
              </a:rPr>
              <a:t xml:space="preserve">1,500 assigned to 37 topics</a:t>
            </a:r>
            <a:endParaRPr lang="en-US" sz="1700"/>
          </a:p>
        </p:txBody>
      </p:sp>
      <p:sp>
        <p:nvSpPr>
          <p:cNvPr id="16" name="Text"/>
          <p:cNvSpPr txBox="1"/>
          <p:nvPr/>
        </p:nvSpPr>
        <p:spPr>
          <a:xfrm>
            <a:off x="950000" y="5000000"/>
            <a:ext cx="103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500" b="0">
                <a:solidFill>
                  <a:srgbClr val="6B6358"/>
                </a:solidFill>
                <a:latin typeface="Aptos"/>
              </a:rPr>
              <a:t xml:space="preserve">Treat topic counts as a useful map of model confidence and corpus structure—not a complete classification of every article.</a:t>
            </a:r>
            <a:endParaRPr lang="en-US" sz="1500"/>
          </a:p>
        </p:txBody>
      </p:sp>
      <p:sp>
        <p:nvSpPr>
          <p:cNvPr id="17" name="Text"/>
          <p:cNvSpPr txBox="1"/>
          <p:nvPr/>
        </p:nvSpPr>
        <p:spPr>
          <a:xfrm>
            <a:off x="620000" y="6488000"/>
            <a:ext cx="94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900" b="0">
                <a:solidFill>
                  <a:srgbClr val="6B6358"/>
                </a:solidFill>
                <a:latin typeface="Aptos"/>
              </a:rPr>
              <a:t xml:space="preserve">Source: outputs/topic_info.csv · outputs/articles_with_topics.csv</a:t>
            </a:r>
            <a:endParaRPr lang="en-US" sz="900"/>
          </a:p>
        </p:txBody>
      </p:sp>
      <p:sp>
        <p:nvSpPr>
          <p:cNvPr id="18" name="Text"/>
          <p:cNvSpPr txBox="1"/>
          <p:nvPr/>
        </p:nvSpPr>
        <p:spPr>
          <a:xfrm>
            <a:off x="11042000" y="6468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en-US" sz="900" b="1">
                <a:solidFill>
                  <a:srgbClr val="6B6358"/>
                </a:solidFill>
                <a:latin typeface="Aptos"/>
              </a:rPr>
              <a:t xml:space="preserve">06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1"/>
          </a:solidFill>
          <a:ln w="6350">
            <a:solidFill>
              <a:srgbClr val="FBF8F1"/>
            </a:solidFill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4064000" cy="76000"/>
          </a:xfrm>
          <a:prstGeom prst="rect">
            <a:avLst/>
          </a:prstGeom>
          <a:solidFill>
            <a:srgbClr val="1F1F1F"/>
          </a:solidFill>
          <a:ln w="6350">
            <a:solidFill>
              <a:srgbClr val="1F1F1F"/>
            </a:solidFill>
          </a:ln>
        </p:spPr>
      </p:sp>
      <p:sp>
        <p:nvSpPr>
          <p:cNvPr id="4" name="Shape"/>
          <p:cNvSpPr/>
          <p:nvPr/>
        </p:nvSpPr>
        <p:spPr>
          <a:xfrm>
            <a:off x="4064000" y="0"/>
            <a:ext cx="4064000" cy="76000"/>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5" name="Shape"/>
          <p:cNvSpPr/>
          <p:nvPr/>
        </p:nvSpPr>
        <p:spPr>
          <a:xfrm>
            <a:off x="8128000" y="0"/>
            <a:ext cx="4064001" cy="76000"/>
          </a:xfrm>
          <a:prstGeom prst="rect">
            <a:avLst/>
          </a:prstGeom>
          <a:solidFill>
            <a:srgbClr val="ED2939"/>
          </a:solidFill>
          <a:ln w="6350">
            <a:solidFill>
              <a:srgbClr val="ED2939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620000" y="30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100" b="1">
                <a:solidFill>
                  <a:srgbClr val="6B6358"/>
                </a:solidFill>
                <a:latin typeface="Aptos"/>
              </a:rPr>
              <a:t xml:space="preserve">RTBF  /  COVERAGE INTELLIGENCE</a:t>
            </a:r>
            <a:endParaRPr lang="en-US" sz="1100"/>
          </a:p>
        </p:txBody>
      </p:sp>
      <p:sp>
        <p:nvSpPr>
          <p:cNvPr id="7" name="Text"/>
          <p:cNvSpPr txBox="1"/>
          <p:nvPr/>
        </p:nvSpPr>
        <p:spPr>
          <a:xfrm>
            <a:off x="620000" y="710000"/>
            <a:ext cx="108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3100" b="1">
                <a:solidFill>
                  <a:srgbClr val="1F1F1F"/>
                </a:solidFill>
                <a:latin typeface="Aptos Display"/>
              </a:rPr>
              <a:t xml:space="preserve">Topic examples make the corpus legible</a:t>
            </a:r>
            <a:endParaRPr lang="en-US" sz="3100"/>
          </a:p>
        </p:txBody>
      </p:sp>
      <p:sp>
        <p:nvSpPr>
          <p:cNvPr id="8" name="Text"/>
          <p:cNvSpPr txBox="1"/>
          <p:nvPr/>
        </p:nvSpPr>
        <p:spPr>
          <a:xfrm>
            <a:off x="620000" y="1460000"/>
            <a:ext cx="108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500" b="0">
                <a:solidFill>
                  <a:srgbClr val="6B6358"/>
                </a:solidFill>
                <a:latin typeface="Aptos"/>
              </a:rPr>
              <a:t xml:space="preserve">Representative topic labels connect semantic groupings to recognizable newsroom beats.</a:t>
            </a:r>
            <a:endParaRPr lang="en-US" sz="1500"/>
          </a:p>
        </p:txBody>
      </p:sp>
      <p:sp>
        <p:nvSpPr>
          <p:cNvPr id="9" name="Shape"/>
          <p:cNvSpPr/>
          <p:nvPr/>
        </p:nvSpPr>
        <p:spPr>
          <a:xfrm>
            <a:off x="620000" y="2250000"/>
            <a:ext cx="3350000" cy="112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10" name="Shape"/>
          <p:cNvSpPr/>
          <p:nvPr/>
        </p:nvSpPr>
        <p:spPr>
          <a:xfrm>
            <a:off x="620000" y="2250000"/>
            <a:ext cx="62000" cy="1120000"/>
          </a:xfrm>
          <a:prstGeom prst="rect">
            <a:avLst/>
          </a:prstGeom>
          <a:solidFill>
            <a:srgbClr val="ED2939"/>
          </a:solidFill>
          <a:ln w="6350">
            <a:solidFill>
              <a:srgbClr val="ED2939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840000" y="2400000"/>
            <a:ext cx="29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700" b="1">
                <a:solidFill>
                  <a:srgbClr val="1F1F1F"/>
                </a:solidFill>
                <a:latin typeface="Aptos"/>
              </a:rPr>
              <a:t xml:space="preserve">SPORT</a:t>
            </a:r>
            <a:endParaRPr lang="en-US" sz="1700"/>
          </a:p>
        </p:txBody>
      </p:sp>
      <p:sp>
        <p:nvSpPr>
          <p:cNvPr id="12" name="Text"/>
          <p:cNvSpPr txBox="1"/>
          <p:nvPr/>
        </p:nvSpPr>
        <p:spPr>
          <a:xfrm>
            <a:off x="840000" y="2850000"/>
            <a:ext cx="29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Cyclisme · 100</a:t>
            </a:r>
            <a:endParaRPr lang="en-US" sz="1300"/>
          </a:p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course · cyclisme · Tour</a:t>
            </a:r>
            <a:endParaRPr lang="en-US" sz="1300"/>
          </a:p>
        </p:txBody>
      </p:sp>
      <p:sp>
        <p:nvSpPr>
          <p:cNvPr id="13" name="Shape"/>
          <p:cNvSpPr/>
          <p:nvPr/>
        </p:nvSpPr>
        <p:spPr>
          <a:xfrm>
            <a:off x="4320000" y="2250000"/>
            <a:ext cx="3350000" cy="112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14" name="Shape"/>
          <p:cNvSpPr/>
          <p:nvPr/>
        </p:nvSpPr>
        <p:spPr>
          <a:xfrm>
            <a:off x="4320000" y="2250000"/>
            <a:ext cx="62000" cy="1120000"/>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4540000" y="2400000"/>
            <a:ext cx="29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700" b="1">
                <a:solidFill>
                  <a:srgbClr val="1F1F1F"/>
                </a:solidFill>
                <a:latin typeface="Aptos"/>
              </a:rPr>
              <a:t xml:space="preserve">PUBLIC AFFAIRS</a:t>
            </a:r>
            <a:endParaRPr lang="en-US" sz="1700"/>
          </a:p>
        </p:txBody>
      </p:sp>
      <p:sp>
        <p:nvSpPr>
          <p:cNvPr id="16" name="Text"/>
          <p:cNvSpPr txBox="1"/>
          <p:nvPr/>
        </p:nvSpPr>
        <p:spPr>
          <a:xfrm>
            <a:off x="4540000" y="2850000"/>
            <a:ext cx="29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Écoles &amp; jeunesse · 95</a:t>
            </a:r>
            <a:endParaRPr lang="en-US" sz="1300"/>
          </a:p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élèves · Liège · enseignants</a:t>
            </a:r>
            <a:endParaRPr lang="en-US" sz="1300"/>
          </a:p>
        </p:txBody>
      </p:sp>
      <p:sp>
        <p:nvSpPr>
          <p:cNvPr id="17" name="Shape"/>
          <p:cNvSpPr/>
          <p:nvPr/>
        </p:nvSpPr>
        <p:spPr>
          <a:xfrm>
            <a:off x="8020000" y="2250000"/>
            <a:ext cx="3350000" cy="112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18" name="Shape"/>
          <p:cNvSpPr/>
          <p:nvPr/>
        </p:nvSpPr>
        <p:spPr>
          <a:xfrm>
            <a:off x="8020000" y="2250000"/>
            <a:ext cx="62000" cy="1120000"/>
          </a:xfrm>
          <a:prstGeom prst="rect">
            <a:avLst/>
          </a:prstGeom>
          <a:solidFill>
            <a:srgbClr val="2E6F9E"/>
          </a:solidFill>
          <a:ln w="6350">
            <a:solidFill>
              <a:srgbClr val="2E6F9E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8240000" y="2400000"/>
            <a:ext cx="29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700" b="1">
                <a:solidFill>
                  <a:srgbClr val="1F1F1F"/>
                </a:solidFill>
                <a:latin typeface="Aptos"/>
              </a:rPr>
              <a:t xml:space="preserve">JUSTICE</a:t>
            </a:r>
            <a:endParaRPr lang="en-US" sz="1700"/>
          </a:p>
        </p:txBody>
      </p:sp>
      <p:sp>
        <p:nvSpPr>
          <p:cNvPr id="20" name="Text"/>
          <p:cNvSpPr txBox="1"/>
          <p:nvPr/>
        </p:nvSpPr>
        <p:spPr>
          <a:xfrm>
            <a:off x="8240000" y="2850000"/>
            <a:ext cx="29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Procès &amp; justice · 73</a:t>
            </a:r>
            <a:endParaRPr lang="en-US" sz="1300"/>
          </a:p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procès · cour · avocat</a:t>
            </a:r>
            <a:endParaRPr lang="en-US" sz="1300"/>
          </a:p>
        </p:txBody>
      </p:sp>
      <p:sp>
        <p:nvSpPr>
          <p:cNvPr id="21" name="Shape"/>
          <p:cNvSpPr/>
          <p:nvPr/>
        </p:nvSpPr>
        <p:spPr>
          <a:xfrm>
            <a:off x="620000" y="3700000"/>
            <a:ext cx="3350000" cy="112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22" name="Shape"/>
          <p:cNvSpPr/>
          <p:nvPr/>
        </p:nvSpPr>
        <p:spPr>
          <a:xfrm>
            <a:off x="620000" y="3700000"/>
            <a:ext cx="62000" cy="1120000"/>
          </a:xfrm>
          <a:prstGeom prst="rect">
            <a:avLst/>
          </a:prstGeom>
          <a:solidFill>
            <a:srgbClr val="ED2939"/>
          </a:solidFill>
          <a:ln w="6350">
            <a:solidFill>
              <a:srgbClr val="ED2939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840000" y="3850000"/>
            <a:ext cx="29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700" b="1">
                <a:solidFill>
                  <a:srgbClr val="1F1F1F"/>
                </a:solidFill>
                <a:latin typeface="Aptos"/>
              </a:rPr>
              <a:t xml:space="preserve">WORLD</a:t>
            </a:r>
            <a:endParaRPr lang="en-US" sz="1700"/>
          </a:p>
        </p:txBody>
      </p:sp>
      <p:sp>
        <p:nvSpPr>
          <p:cNvPr id="24" name="Text"/>
          <p:cNvSpPr txBox="1"/>
          <p:nvPr/>
        </p:nvSpPr>
        <p:spPr>
          <a:xfrm>
            <a:off x="840000" y="4300000"/>
            <a:ext cx="29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Guerre en Ukraine · 73</a:t>
            </a:r>
            <a:endParaRPr lang="en-US" sz="1300"/>
          </a:p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Ukraine · Russie · drones</a:t>
            </a:r>
            <a:endParaRPr lang="en-US" sz="1300"/>
          </a:p>
        </p:txBody>
      </p:sp>
      <p:sp>
        <p:nvSpPr>
          <p:cNvPr id="25" name="Shape"/>
          <p:cNvSpPr/>
          <p:nvPr/>
        </p:nvSpPr>
        <p:spPr>
          <a:xfrm>
            <a:off x="4320000" y="3700000"/>
            <a:ext cx="3350000" cy="112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26" name="Shape"/>
          <p:cNvSpPr/>
          <p:nvPr/>
        </p:nvSpPr>
        <p:spPr>
          <a:xfrm>
            <a:off x="4320000" y="3700000"/>
            <a:ext cx="62000" cy="1120000"/>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4540000" y="3850000"/>
            <a:ext cx="29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700" b="1">
                <a:solidFill>
                  <a:srgbClr val="1F1F1F"/>
                </a:solidFill>
                <a:latin typeface="Aptos"/>
              </a:rPr>
              <a:t xml:space="preserve">TECH</a:t>
            </a:r>
            <a:endParaRPr lang="en-US" sz="1700"/>
          </a:p>
        </p:txBody>
      </p:sp>
      <p:sp>
        <p:nvSpPr>
          <p:cNvPr id="28" name="Text"/>
          <p:cNvSpPr txBox="1"/>
          <p:nvPr/>
        </p:nvSpPr>
        <p:spPr>
          <a:xfrm>
            <a:off x="4540000" y="4300000"/>
            <a:ext cx="29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IA &amp; technologie · 33</a:t>
            </a:r>
            <a:endParaRPr lang="en-US" sz="1300"/>
          </a:p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IA · Apple · modèles</a:t>
            </a:r>
            <a:endParaRPr lang="en-US" sz="1300"/>
          </a:p>
        </p:txBody>
      </p:sp>
      <p:sp>
        <p:nvSpPr>
          <p:cNvPr id="29" name="Shape"/>
          <p:cNvSpPr/>
          <p:nvPr/>
        </p:nvSpPr>
        <p:spPr>
          <a:xfrm>
            <a:off x="8020000" y="3700000"/>
            <a:ext cx="3350000" cy="112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30" name="Shape"/>
          <p:cNvSpPr/>
          <p:nvPr/>
        </p:nvSpPr>
        <p:spPr>
          <a:xfrm>
            <a:off x="8020000" y="3700000"/>
            <a:ext cx="62000" cy="1120000"/>
          </a:xfrm>
          <a:prstGeom prst="rect">
            <a:avLst/>
          </a:prstGeom>
          <a:solidFill>
            <a:srgbClr val="2E6F9E"/>
          </a:solidFill>
          <a:ln w="6350">
            <a:solidFill>
              <a:srgbClr val="2E6F9E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8240000" y="3850000"/>
            <a:ext cx="29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700" b="1">
                <a:solidFill>
                  <a:srgbClr val="1F1F1F"/>
                </a:solidFill>
                <a:latin typeface="Aptos"/>
              </a:rPr>
              <a:t xml:space="preserve">LOCAL</a:t>
            </a:r>
            <a:endParaRPr lang="en-US" sz="1700"/>
          </a:p>
        </p:txBody>
      </p:sp>
      <p:sp>
        <p:nvSpPr>
          <p:cNvPr id="32" name="Text"/>
          <p:cNvSpPr txBox="1"/>
          <p:nvPr/>
        </p:nvSpPr>
        <p:spPr>
          <a:xfrm>
            <a:off x="8240000" y="4300000"/>
            <a:ext cx="295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Budget &amp; gouvernement · 49</a:t>
            </a:r>
            <a:endParaRPr lang="en-US" sz="1300"/>
          </a:p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budget · dette · ministre</a:t>
            </a:r>
            <a:endParaRPr lang="en-US" sz="1300"/>
          </a:p>
        </p:txBody>
      </p:sp>
      <p:sp>
        <p:nvSpPr>
          <p:cNvPr id="33" name="Text"/>
          <p:cNvSpPr txBox="1"/>
          <p:nvPr/>
        </p:nvSpPr>
        <p:spPr>
          <a:xfrm>
            <a:off x="650000" y="5400000"/>
            <a:ext cx="104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400" b="0">
                <a:solidFill>
                  <a:srgbClr val="6B6358"/>
                </a:solidFill>
                <a:latin typeface="Aptos"/>
              </a:rPr>
              <a:t xml:space="preserve">Labels are editorial shorthand; inspect representative articles before drawing conclusions.</a:t>
            </a:r>
            <a:endParaRPr lang="en-US" sz="1400"/>
          </a:p>
        </p:txBody>
      </p:sp>
      <p:sp>
        <p:nvSpPr>
          <p:cNvPr id="34" name="Text"/>
          <p:cNvSpPr txBox="1"/>
          <p:nvPr/>
        </p:nvSpPr>
        <p:spPr>
          <a:xfrm>
            <a:off x="620000" y="6488000"/>
            <a:ext cx="94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900" b="0">
                <a:solidFill>
                  <a:srgbClr val="6B6358"/>
                </a:solidFill>
                <a:latin typeface="Aptos"/>
              </a:rPr>
              <a:t xml:space="preserve">Source: outputs/topic_info.csv · dashboard/app.py topic labels</a:t>
            </a:r>
            <a:endParaRPr lang="en-US" sz="900"/>
          </a:p>
        </p:txBody>
      </p:sp>
      <p:sp>
        <p:nvSpPr>
          <p:cNvPr id="35" name="Text"/>
          <p:cNvSpPr txBox="1"/>
          <p:nvPr/>
        </p:nvSpPr>
        <p:spPr>
          <a:xfrm>
            <a:off x="11042000" y="6468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en-US" sz="900" b="1">
                <a:solidFill>
                  <a:srgbClr val="6B6358"/>
                </a:solidFill>
                <a:latin typeface="Aptos"/>
              </a:rPr>
              <a:t xml:space="preserve">07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8F1"/>
          </a:solidFill>
          <a:ln w="6350">
            <a:solidFill>
              <a:srgbClr val="FBF8F1"/>
            </a:solidFill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4064000" cy="76000"/>
          </a:xfrm>
          <a:prstGeom prst="rect">
            <a:avLst/>
          </a:prstGeom>
          <a:solidFill>
            <a:srgbClr val="1F1F1F"/>
          </a:solidFill>
          <a:ln w="6350">
            <a:solidFill>
              <a:srgbClr val="1F1F1F"/>
            </a:solidFill>
          </a:ln>
        </p:spPr>
      </p:sp>
      <p:sp>
        <p:nvSpPr>
          <p:cNvPr id="4" name="Shape"/>
          <p:cNvSpPr/>
          <p:nvPr/>
        </p:nvSpPr>
        <p:spPr>
          <a:xfrm>
            <a:off x="4064000" y="0"/>
            <a:ext cx="4064000" cy="76000"/>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5" name="Shape"/>
          <p:cNvSpPr/>
          <p:nvPr/>
        </p:nvSpPr>
        <p:spPr>
          <a:xfrm>
            <a:off x="8128000" y="0"/>
            <a:ext cx="4064001" cy="76000"/>
          </a:xfrm>
          <a:prstGeom prst="rect">
            <a:avLst/>
          </a:prstGeom>
          <a:solidFill>
            <a:srgbClr val="ED2939"/>
          </a:solidFill>
          <a:ln w="6350">
            <a:solidFill>
              <a:srgbClr val="ED2939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620000" y="30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100" b="1">
                <a:solidFill>
                  <a:srgbClr val="6B6358"/>
                </a:solidFill>
                <a:latin typeface="Aptos"/>
              </a:rPr>
              <a:t xml:space="preserve">RTBF  /  COVERAGE INTELLIGENCE</a:t>
            </a:r>
            <a:endParaRPr lang="en-US" sz="1100"/>
          </a:p>
        </p:txBody>
      </p:sp>
      <p:sp>
        <p:nvSpPr>
          <p:cNvPr id="7" name="Text"/>
          <p:cNvSpPr txBox="1"/>
          <p:nvPr/>
        </p:nvSpPr>
        <p:spPr>
          <a:xfrm>
            <a:off x="620000" y="710000"/>
            <a:ext cx="108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3100" b="1">
                <a:solidFill>
                  <a:srgbClr val="1F1F1F"/>
                </a:solidFill>
                <a:latin typeface="Aptos Display"/>
              </a:rPr>
              <a:t xml:space="preserve">Exploration is built into the deliverable</a:t>
            </a:r>
            <a:endParaRPr lang="en-US" sz="3100"/>
          </a:p>
        </p:txBody>
      </p:sp>
      <p:sp>
        <p:nvSpPr>
          <p:cNvPr id="8" name="Text"/>
          <p:cNvSpPr txBox="1"/>
          <p:nvPr/>
        </p:nvSpPr>
        <p:spPr>
          <a:xfrm>
            <a:off x="620000" y="1460000"/>
            <a:ext cx="1080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500" b="0">
                <a:solidFill>
                  <a:srgbClr val="6B6358"/>
                </a:solidFill>
                <a:latin typeface="Aptos"/>
              </a:rPr>
              <a:t xml:space="preserve">The Streamlit dashboard links aggregate patterns back to individual articles and visual evidence.</a:t>
            </a:r>
            <a:endParaRPr lang="en-US" sz="1500"/>
          </a:p>
        </p:txBody>
      </p:sp>
      <p:sp>
        <p:nvSpPr>
          <p:cNvPr id="9" name="Shape"/>
          <p:cNvSpPr/>
          <p:nvPr/>
        </p:nvSpPr>
        <p:spPr>
          <a:xfrm>
            <a:off x="900000" y="2200000"/>
            <a:ext cx="4700000" cy="85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10" name="Shape"/>
          <p:cNvSpPr/>
          <p:nvPr/>
        </p:nvSpPr>
        <p:spPr>
          <a:xfrm>
            <a:off x="900000" y="2200000"/>
            <a:ext cx="85000" cy="850000"/>
          </a:xfrm>
          <a:prstGeom prst="rect">
            <a:avLst/>
          </a:prstGeom>
          <a:solidFill>
            <a:srgbClr val="ED2939"/>
          </a:solidFill>
          <a:ln w="6350">
            <a:solidFill>
              <a:srgbClr val="ED2939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1120000" y="2290000"/>
            <a:ext cx="42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650" b="1">
                <a:solidFill>
                  <a:srgbClr val="1F1F1F"/>
                </a:solidFill>
                <a:latin typeface="Aptos"/>
              </a:rPr>
              <a:t xml:space="preserve">Overview</a:t>
            </a:r>
            <a:endParaRPr lang="en-US" sz="1650"/>
          </a:p>
        </p:txBody>
      </p:sp>
      <p:sp>
        <p:nvSpPr>
          <p:cNvPr id="12" name="Text"/>
          <p:cNvSpPr txBox="1"/>
          <p:nvPr/>
        </p:nvSpPr>
        <p:spPr>
          <a:xfrm>
            <a:off x="1120000" y="26300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0">
                <a:solidFill>
                  <a:srgbClr val="6B6358"/>
                </a:solidFill>
                <a:latin typeface="Aptos"/>
              </a:rPr>
              <a:t xml:space="preserve">Corpus size, topic mix and trends</a:t>
            </a:r>
            <a:endParaRPr lang="en-US" sz="1200"/>
          </a:p>
        </p:txBody>
      </p:sp>
      <p:sp>
        <p:nvSpPr>
          <p:cNvPr id="13" name="Shape"/>
          <p:cNvSpPr/>
          <p:nvPr/>
        </p:nvSpPr>
        <p:spPr>
          <a:xfrm>
            <a:off x="6250000" y="2200000"/>
            <a:ext cx="4700000" cy="85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14" name="Shape"/>
          <p:cNvSpPr/>
          <p:nvPr/>
        </p:nvSpPr>
        <p:spPr>
          <a:xfrm>
            <a:off x="6250000" y="2200000"/>
            <a:ext cx="85000" cy="850000"/>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6470000" y="2290000"/>
            <a:ext cx="42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650" b="1">
                <a:solidFill>
                  <a:srgbClr val="1F1F1F"/>
                </a:solidFill>
                <a:latin typeface="Aptos"/>
              </a:rPr>
              <a:t xml:space="preserve">Key insights</a:t>
            </a:r>
            <a:endParaRPr lang="en-US" sz="1650"/>
          </a:p>
        </p:txBody>
      </p:sp>
      <p:sp>
        <p:nvSpPr>
          <p:cNvPr id="16" name="Text"/>
          <p:cNvSpPr txBox="1"/>
          <p:nvPr/>
        </p:nvSpPr>
        <p:spPr>
          <a:xfrm>
            <a:off x="6470000" y="26300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0">
                <a:solidFill>
                  <a:srgbClr val="6B6358"/>
                </a:solidFill>
                <a:latin typeface="Aptos"/>
              </a:rPr>
              <a:t xml:space="preserve">Readable summaries for quick review</a:t>
            </a:r>
            <a:endParaRPr lang="en-US" sz="1200"/>
          </a:p>
        </p:txBody>
      </p:sp>
      <p:sp>
        <p:nvSpPr>
          <p:cNvPr id="17" name="Shape"/>
          <p:cNvSpPr/>
          <p:nvPr/>
        </p:nvSpPr>
        <p:spPr>
          <a:xfrm>
            <a:off x="900000" y="3320000"/>
            <a:ext cx="4700000" cy="85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18" name="Shape"/>
          <p:cNvSpPr/>
          <p:nvPr/>
        </p:nvSpPr>
        <p:spPr>
          <a:xfrm>
            <a:off x="900000" y="3320000"/>
            <a:ext cx="85000" cy="850000"/>
          </a:xfrm>
          <a:prstGeom prst="rect">
            <a:avLst/>
          </a:prstGeom>
          <a:solidFill>
            <a:srgbClr val="2E6F9E"/>
          </a:solidFill>
          <a:ln w="6350">
            <a:solidFill>
              <a:srgbClr val="2E6F9E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1120000" y="3410000"/>
            <a:ext cx="42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650" b="1">
                <a:solidFill>
                  <a:srgbClr val="1F1F1F"/>
                </a:solidFill>
                <a:latin typeface="Aptos"/>
              </a:rPr>
              <a:t xml:space="preserve">Topic explorer</a:t>
            </a:r>
            <a:endParaRPr lang="en-US" sz="1650"/>
          </a:p>
        </p:txBody>
      </p:sp>
      <p:sp>
        <p:nvSpPr>
          <p:cNvPr id="20" name="Text"/>
          <p:cNvSpPr txBox="1"/>
          <p:nvPr/>
        </p:nvSpPr>
        <p:spPr>
          <a:xfrm>
            <a:off x="1120000" y="37500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0">
                <a:solidFill>
                  <a:srgbClr val="6B6358"/>
                </a:solidFill>
                <a:latin typeface="Aptos"/>
              </a:rPr>
              <a:t xml:space="preserve">Keywords, counts and comparisons</a:t>
            </a:r>
            <a:endParaRPr lang="en-US" sz="1200"/>
          </a:p>
        </p:txBody>
      </p:sp>
      <p:sp>
        <p:nvSpPr>
          <p:cNvPr id="21" name="Shape"/>
          <p:cNvSpPr/>
          <p:nvPr/>
        </p:nvSpPr>
        <p:spPr>
          <a:xfrm>
            <a:off x="6250000" y="3320000"/>
            <a:ext cx="4700000" cy="85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22" name="Shape"/>
          <p:cNvSpPr/>
          <p:nvPr/>
        </p:nvSpPr>
        <p:spPr>
          <a:xfrm>
            <a:off x="6250000" y="3320000"/>
            <a:ext cx="85000" cy="850000"/>
          </a:xfrm>
          <a:prstGeom prst="rect">
            <a:avLst/>
          </a:prstGeom>
          <a:solidFill>
            <a:srgbClr val="ED2939"/>
          </a:solidFill>
          <a:ln w="6350">
            <a:solidFill>
              <a:srgbClr val="ED2939"/>
            </a:solidFill>
          </a:ln>
        </p:spPr>
      </p:sp>
      <p:sp>
        <p:nvSpPr>
          <p:cNvPr id="23" name="Text"/>
          <p:cNvSpPr txBox="1"/>
          <p:nvPr/>
        </p:nvSpPr>
        <p:spPr>
          <a:xfrm>
            <a:off x="6470000" y="3410000"/>
            <a:ext cx="42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650" b="1">
                <a:solidFill>
                  <a:srgbClr val="1F1F1F"/>
                </a:solidFill>
                <a:latin typeface="Aptos"/>
              </a:rPr>
              <a:t xml:space="preserve">Article browser</a:t>
            </a:r>
            <a:endParaRPr lang="en-US" sz="1650"/>
          </a:p>
        </p:txBody>
      </p:sp>
      <p:sp>
        <p:nvSpPr>
          <p:cNvPr id="24" name="Text"/>
          <p:cNvSpPr txBox="1"/>
          <p:nvPr/>
        </p:nvSpPr>
        <p:spPr>
          <a:xfrm>
            <a:off x="6470000" y="37500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0">
                <a:solidFill>
                  <a:srgbClr val="6B6358"/>
                </a:solidFill>
                <a:latin typeface="Aptos"/>
              </a:rPr>
              <a:t xml:space="preserve">Filter and inspect source stories</a:t>
            </a:r>
            <a:endParaRPr lang="en-US" sz="1200"/>
          </a:p>
        </p:txBody>
      </p:sp>
      <p:sp>
        <p:nvSpPr>
          <p:cNvPr id="25" name="Shape"/>
          <p:cNvSpPr/>
          <p:nvPr/>
        </p:nvSpPr>
        <p:spPr>
          <a:xfrm>
            <a:off x="900000" y="4440000"/>
            <a:ext cx="4700000" cy="85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26" name="Shape"/>
          <p:cNvSpPr/>
          <p:nvPr/>
        </p:nvSpPr>
        <p:spPr>
          <a:xfrm>
            <a:off x="900000" y="4440000"/>
            <a:ext cx="85000" cy="850000"/>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27" name="Text"/>
          <p:cNvSpPr txBox="1"/>
          <p:nvPr/>
        </p:nvSpPr>
        <p:spPr>
          <a:xfrm>
            <a:off x="1120000" y="4530000"/>
            <a:ext cx="42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650" b="1">
                <a:solidFill>
                  <a:srgbClr val="1F1F1F"/>
                </a:solidFill>
                <a:latin typeface="Aptos"/>
              </a:rPr>
              <a:t xml:space="preserve">Article map</a:t>
            </a:r>
            <a:endParaRPr lang="en-US" sz="1650"/>
          </a:p>
        </p:txBody>
      </p:sp>
      <p:sp>
        <p:nvSpPr>
          <p:cNvPr id="28" name="Text"/>
          <p:cNvSpPr txBox="1"/>
          <p:nvPr/>
        </p:nvSpPr>
        <p:spPr>
          <a:xfrm>
            <a:off x="1120000" y="48700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0">
                <a:solidFill>
                  <a:srgbClr val="6B6358"/>
                </a:solidFill>
                <a:latin typeface="Aptos"/>
              </a:rPr>
              <a:t xml:space="preserve">Explore semantic neighborhoods</a:t>
            </a:r>
            <a:endParaRPr lang="en-US" sz="1200"/>
          </a:p>
        </p:txBody>
      </p:sp>
      <p:sp>
        <p:nvSpPr>
          <p:cNvPr id="29" name="Shape"/>
          <p:cNvSpPr/>
          <p:nvPr/>
        </p:nvSpPr>
        <p:spPr>
          <a:xfrm>
            <a:off x="6250000" y="4440000"/>
            <a:ext cx="4700000" cy="85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30" name="Shape"/>
          <p:cNvSpPr/>
          <p:nvPr/>
        </p:nvSpPr>
        <p:spPr>
          <a:xfrm>
            <a:off x="6250000" y="4440000"/>
            <a:ext cx="85000" cy="850000"/>
          </a:xfrm>
          <a:prstGeom prst="rect">
            <a:avLst/>
          </a:prstGeom>
          <a:solidFill>
            <a:srgbClr val="2E6F9E"/>
          </a:solidFill>
          <a:ln w="6350">
            <a:solidFill>
              <a:srgbClr val="2E6F9E"/>
            </a:solidFill>
          </a:ln>
        </p:spPr>
      </p:sp>
      <p:sp>
        <p:nvSpPr>
          <p:cNvPr id="31" name="Text"/>
          <p:cNvSpPr txBox="1"/>
          <p:nvPr/>
        </p:nvSpPr>
        <p:spPr>
          <a:xfrm>
            <a:off x="6470000" y="4530000"/>
            <a:ext cx="42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650" b="1">
                <a:solidFill>
                  <a:srgbClr val="1F1F1F"/>
                </a:solidFill>
                <a:latin typeface="Aptos"/>
              </a:rPr>
              <a:t xml:space="preserve">Visualizations</a:t>
            </a:r>
            <a:endParaRPr lang="en-US" sz="1650"/>
          </a:p>
        </p:txBody>
      </p:sp>
      <p:sp>
        <p:nvSpPr>
          <p:cNvPr id="32" name="Text"/>
          <p:cNvSpPr txBox="1"/>
          <p:nvPr/>
        </p:nvSpPr>
        <p:spPr>
          <a:xfrm>
            <a:off x="6470000" y="48700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00" b="0">
                <a:solidFill>
                  <a:srgbClr val="6B6358"/>
                </a:solidFill>
                <a:latin typeface="Aptos"/>
              </a:rPr>
              <a:t xml:space="preserve">Topic maps, hierarchy and time views</a:t>
            </a:r>
            <a:endParaRPr lang="en-US" sz="1200"/>
          </a:p>
        </p:txBody>
      </p:sp>
      <p:sp>
        <p:nvSpPr>
          <p:cNvPr id="33" name="Text"/>
          <p:cNvSpPr txBox="1"/>
          <p:nvPr/>
        </p:nvSpPr>
        <p:spPr>
          <a:xfrm>
            <a:off x="900000" y="5800000"/>
            <a:ext cx="10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300" b="1">
                <a:solidFill>
                  <a:srgbClr val="6B6358"/>
                </a:solidFill>
                <a:latin typeface="Aptos"/>
              </a:rPr>
              <a:t xml:space="preserve">Run locally:  streamlit run dashboard/app.py</a:t>
            </a:r>
            <a:endParaRPr lang="en-US" sz="1300"/>
          </a:p>
        </p:txBody>
      </p:sp>
      <p:sp>
        <p:nvSpPr>
          <p:cNvPr id="34" name="Text"/>
          <p:cNvSpPr txBox="1"/>
          <p:nvPr/>
        </p:nvSpPr>
        <p:spPr>
          <a:xfrm>
            <a:off x="620000" y="6488000"/>
            <a:ext cx="94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900" b="0">
                <a:solidFill>
                  <a:srgbClr val="6B6358"/>
                </a:solidFill>
                <a:latin typeface="Aptos"/>
              </a:rPr>
              <a:t xml:space="preserve">Source: dashboard/app.py · outputs/*.html</a:t>
            </a:r>
            <a:endParaRPr lang="en-US" sz="900"/>
          </a:p>
        </p:txBody>
      </p:sp>
      <p:sp>
        <p:nvSpPr>
          <p:cNvPr id="35" name="Text"/>
          <p:cNvSpPr txBox="1"/>
          <p:nvPr/>
        </p:nvSpPr>
        <p:spPr>
          <a:xfrm>
            <a:off x="11042000" y="6468000"/>
            <a:ext cx="5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en-US" sz="900" b="1">
                <a:solidFill>
                  <a:srgbClr val="6B6358"/>
                </a:solidFill>
                <a:latin typeface="Aptos"/>
              </a:rPr>
              <a:t xml:space="preserve">08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/&gt;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  /&gt;
          </a:xfrm>
          <a:prstGeom prst="rect">
            <a:avLst/>
          </a:prstGeom>
          <a:solidFill>
            <a:srgbClr val="FBF8F1"/>
          </a:solidFill>
          <a:ln w="6350">
            <a:solidFill>
              <a:srgbClr val="FBF8F1"/>
            </a:solidFill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4064000" cy="76000"/>
            /&gt;
          </a:xfrm>
          <a:prstGeom prst="rect">
            <a:avLst/>
          </a:prstGeom>
          <a:solidFill>
            <a:srgbClr val="1F1F1F"/>
          </a:solidFill>
          <a:ln w="6350">
            <a:solidFill>
              <a:srgbClr val="1F1F1F"/>
            </a:solidFill>
          </a:ln>
        </p:spPr>
      </p:sp>
      <p:sp>
        <p:nvSpPr>
          <p:cNvPr id="4" name="Shape"/>
          <p:cNvSpPr/>
          <p:nvPr/>
        </p:nvSpPr>
        <p:spPr>
          <a:xfrm>
            <a:off x="4064000" y="0"/>
            <a:ext cx="4064000" cy="76000"/>
            /&gt;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5" name="Shape"/>
          <p:cNvSpPr/>
          <p:nvPr/>
        </p:nvSpPr>
        <p:spPr>
          <a:xfrm>
            <a:off x="8128000" y="0"/>
            <a:ext cx="4064001" cy="76000"/>
            /&gt;
          </a:xfrm>
          <a:prstGeom prst="rect">
            <a:avLst/>
          </a:prstGeom>
          <a:solidFill>
            <a:srgbClr val="ED2939"/>
          </a:solidFill>
          <a:ln w="6350">
            <a:solidFill>
              <a:srgbClr val="ED2939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620000" y="300000"/>
            <a:ext cx="8000000" cy="30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100" b="1">
                <a:solidFill>
                  <a:srgbClr val="6B6358"/>
                </a:solidFill>
                <a:latin typeface="Aptos"/>
              </a:rPr>
              <a:t xml:space="preserve">RTBF  /  COVERAGE INTELLIGENCE</a:t>
            </a:r>
            <a:endParaRPr lang="en-US" sz="1100"/>
          </a:p>
        </p:txBody>
      </p:sp>
      <p:sp>
        <p:nvSpPr>
          <p:cNvPr id="7" name="Text"/>
          <p:cNvSpPr txBox="1"/>
          <p:nvPr/>
        </p:nvSpPr>
        <p:spPr>
          <a:xfrm>
            <a:off x="620000" y="710000"/>
            <a:ext cx="10800000" cy="76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3100" b="1">
                <a:solidFill>
                  <a:srgbClr val="1F1F1F"/>
                </a:solidFill>
                <a:latin typeface="Aptos Display"/>
              </a:rPr>
              <a:t xml:space="preserve">Read the patterns with context</a:t>
            </a:r>
            <a:endParaRPr lang="en-US" sz="3100"/>
          </a:p>
        </p:txBody>
      </p:sp>
      <p:sp>
        <p:nvSpPr>
          <p:cNvPr id="8" name="Text"/>
          <p:cNvSpPr txBox="1"/>
          <p:nvPr/>
        </p:nvSpPr>
        <p:spPr>
          <a:xfrm>
            <a:off x="620000" y="1460000"/>
            <a:ext cx="10800000" cy="44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500" b="0">
                <a:solidFill>
                  <a:srgbClr val="6B6358"/>
                </a:solidFill>
                <a:latin typeface="Aptos"/>
              </a:rPr>
              <a:t xml:space="preserve">The outputs support exploration and hypothesis building; they do not establish editorial intent or impact.</a:t>
            </a:r>
            <a:endParaRPr lang="en-US" sz="1500"/>
          </a:p>
        </p:txBody>
      </p:sp>
      <p:sp>
        <p:nvSpPr>
          <p:cNvPr id="9" name="Shape"/>
          <p:cNvSpPr/>
          <p:nvPr/>
        </p:nvSpPr>
        <p:spPr>
          <a:xfrm>
            <a:off x="620000" y="2250000"/>
            <a:ext cx="3350000" cy="2100000"/>
            /&gt;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10" name="Shape"/>
          <p:cNvSpPr/>
          <p:nvPr/>
        </p:nvSpPr>
        <p:spPr>
          <a:xfrm>
            <a:off x="620000" y="2250000"/>
            <a:ext cx="62000" cy="2100000"/>
            /&gt;
          </a:xfrm>
          <a:prstGeom prst="rect">
            <a:avLst/>
          </a:prstGeom>
          <a:solidFill>
            <a:srgbClr val="ED2939"/>
          </a:solidFill>
          <a:ln w="6350">
            <a:solidFill>
              <a:srgbClr val="ED2939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840000" y="2400000"/>
            <a:ext cx="2950000" cy="36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700" b="1">
                <a:solidFill>
                  <a:srgbClr val="1F1F1F"/>
                </a:solidFill>
                <a:latin typeface="Aptos"/>
              </a:rPr>
              <a:t xml:space="preserve">LABELS ARE APPROXIMATE</a:t>
            </a:r>
            <a:endParaRPr lang="en-US" sz="1700"/>
          </a:p>
        </p:txBody>
      </p:sp>
      <p:sp>
        <p:nvSpPr>
          <p:cNvPr id="12" name="Text"/>
          <p:cNvSpPr txBox="1"/>
          <p:nvPr/>
        </p:nvSpPr>
        <p:spPr>
          <a:xfrm>
            <a:off x="840000" y="2850000"/>
            <a:ext cx="2950000" cy="140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Automated topics may merge distinct stories or split one beat across several groups.</a:t>
            </a:r>
            <a:endParaRPr lang="en-US" sz="1300"/>
          </a:p>
        </p:txBody>
      </p:sp>
      <p:sp>
        <p:nvSpPr>
          <p:cNvPr id="13" name="Shape"/>
          <p:cNvSpPr/>
          <p:nvPr/>
        </p:nvSpPr>
        <p:spPr>
          <a:xfrm>
            <a:off x="4396000" y="2250000"/>
            <a:ext cx="3350000" cy="2100000"/>
            /&gt;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14" name="Shape"/>
          <p:cNvSpPr/>
          <p:nvPr/>
        </p:nvSpPr>
        <p:spPr>
          <a:xfrm>
            <a:off x="4396000" y="2250000"/>
            <a:ext cx="62000" cy="2100000"/>
            /&gt;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15" name="Text"/>
          <p:cNvSpPr txBox="1"/>
          <p:nvPr/>
        </p:nvSpPr>
        <p:spPr>
          <a:xfrm>
            <a:off x="4616000" y="2400000"/>
            <a:ext cx="2950000" cy="36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700" b="1">
                <a:solidFill>
                  <a:srgbClr val="1F1F1F"/>
                </a:solidFill>
                <a:latin typeface="Aptos"/>
              </a:rPr>
              <a:t xml:space="preserve">OUTLIERS ARE REAL DATA</a:t>
            </a:r>
            <a:endParaRPr lang="en-US" sz="1700"/>
          </a:p>
        </p:txBody>
      </p:sp>
      <p:sp>
        <p:nvSpPr>
          <p:cNvPr id="16" name="Text"/>
          <p:cNvSpPr txBox="1"/>
          <p:nvPr/>
        </p:nvSpPr>
        <p:spPr>
          <a:xfrm>
            <a:off x="4616000" y="2850000"/>
            <a:ext cx="2950000" cy="140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623 articles (29.3%) were not assigned to a modeled topic in the current run.</a:t>
            </a:r>
            <a:endParaRPr lang="en-US" sz="1300"/>
          </a:p>
        </p:txBody>
      </p:sp>
      <p:sp>
        <p:nvSpPr>
          <p:cNvPr id="17" name="Shape"/>
          <p:cNvSpPr/>
          <p:nvPr/>
        </p:nvSpPr>
        <p:spPr>
          <a:xfrm>
            <a:off x="8172000" y="2250000"/>
            <a:ext cx="3350000" cy="2100000"/>
            /&gt;
          </a:xfrm>
          <a:prstGeom prst="roundRect">
            <a:avLst/>
          </a:prstGeom>
          <a:solidFill>
            <a:srgbClr val="FFFFFF"/>
          </a:solidFill>
          <a:ln w="6350">
            <a:solidFill>
              <a:srgbClr val="E6DFCC"/>
            </a:solidFill>
          </a:ln>
        </p:spPr>
      </p:sp>
      <p:sp>
        <p:nvSpPr>
          <p:cNvPr id="18" name="Shape"/>
          <p:cNvSpPr/>
          <p:nvPr/>
        </p:nvSpPr>
        <p:spPr>
          <a:xfrm>
            <a:off x="8172000" y="2250000"/>
            <a:ext cx="62000" cy="2100000"/>
            /&gt;
          </a:xfrm>
          <a:prstGeom prst="rect">
            <a:avLst/>
          </a:prstGeom>
          <a:solidFill>
            <a:srgbClr val="2E6F9E"/>
          </a:solidFill>
          <a:ln w="6350">
            <a:solidFill>
              <a:srgbClr val="2E6F9E"/>
            </a:solidFill>
          </a:ln>
        </p:spPr>
      </p:sp>
      <p:sp>
        <p:nvSpPr>
          <p:cNvPr id="19" name="Text"/>
          <p:cNvSpPr txBox="1"/>
          <p:nvPr/>
        </p:nvSpPr>
        <p:spPr>
          <a:xfrm>
            <a:off x="8392000" y="2400000"/>
            <a:ext cx="2950000" cy="36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700" b="1">
                <a:solidFill>
                  <a:srgbClr val="1F1F1F"/>
                </a:solidFill>
                <a:latin typeface="Aptos"/>
              </a:rPr>
              <a:t xml:space="preserve">DATES NEED CARE</a:t>
            </a:r>
            <a:endParaRPr lang="en-US" sz="1700"/>
          </a:p>
        </p:txBody>
      </p:sp>
      <p:sp>
        <p:nvSpPr>
          <p:cNvPr id="20" name="Text"/>
          <p:cNvSpPr txBox="1"/>
          <p:nvPr/>
        </p:nvSpPr>
        <p:spPr>
          <a:xfrm>
            <a:off x="8392000" y="2850000"/>
            <a:ext cx="2950000" cy="140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300" b="0">
                <a:solidFill>
                  <a:srgbClr val="6B6358"/>
                </a:solidFill>
                <a:latin typeface="Aptos"/>
              </a:rPr>
              <a:t xml:space="preserve">The corpus spans 2020–2026; inspect date coverage and collection effects before trend claims.</a:t>
            </a:r>
            <a:endParaRPr lang="en-US" sz="1300"/>
          </a:p>
        </p:txBody>
      </p:sp>
      <p:sp>
        <p:nvSpPr>
          <p:cNvPr id="21" name="Text"/>
          <p:cNvSpPr txBox="1"/>
          <p:nvPr/>
        </p:nvSpPr>
        <p:spPr>
          <a:xfrm>
            <a:off x="620000" y="5000000"/>
            <a:ext cx="10800000" cy="68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900" b="1">
                <a:solidFill>
                  <a:srgbClr val="1F1F1F"/>
                </a:solidFill>
                <a:latin typeface="Aptos"/>
              </a:rPr>
              <a:t xml:space="preserve">Use representative articles, category metadata and time filters to validate what each topic means.</a:t>
            </a:r>
            <a:endParaRPr lang="en-US" sz="1900"/>
          </a:p>
        </p:txBody>
      </p:sp>
      <p:sp>
        <p:nvSpPr>
          <p:cNvPr id="22" name="Text"/>
          <p:cNvSpPr txBox="1"/>
          <p:nvPr/>
        </p:nvSpPr>
        <p:spPr>
          <a:xfrm>
            <a:off x="620000" y="6488000"/>
            <a:ext cx="9400000" cy="20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900" b="0">
                <a:solidFill>
                  <a:srgbClr val="6B6358"/>
                </a:solidFill>
                <a:latin typeface="Aptos"/>
              </a:rPr>
              <a:t xml:space="preserve">Source: project outputs · interpretation notes in README.md</a:t>
            </a:r>
            <a:endParaRPr lang="en-US" sz="900"/>
          </a:p>
        </p:txBody>
      </p:sp>
      <p:sp>
        <p:nvSpPr>
          <p:cNvPr id="23" name="Text"/>
          <p:cNvSpPr txBox="1"/>
          <p:nvPr/>
        </p:nvSpPr>
        <p:spPr>
          <a:xfrm>
            <a:off x="11042000" y="6468000"/>
            <a:ext cx="500000" cy="220000"/>
            /&gt;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r"/>
            <a:r>
              <a:rPr lang="en-US" sz="900" b="1">
                <a:solidFill>
                  <a:srgbClr val="6B6358"/>
                </a:solidFill>
                <a:latin typeface="Aptos"/>
              </a:rPr>
              <a:t xml:space="preserve">09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1F1F"/>
          </a:solidFill>
          <a:ln w="6350">
            <a:solidFill>
              <a:srgbClr val="1F1F1F"/>
            </a:solidFill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4064000" cy="76000"/>
          </a:xfrm>
          <a:prstGeom prst="rect">
            <a:avLst/>
          </a:prstGeom>
          <a:solidFill>
            <a:srgbClr val="1F1F1F"/>
          </a:solidFill>
          <a:ln w="6350">
            <a:solidFill>
              <a:srgbClr val="1F1F1F"/>
            </a:solidFill>
          </a:ln>
        </p:spPr>
      </p:sp>
      <p:sp>
        <p:nvSpPr>
          <p:cNvPr id="4" name="Shape"/>
          <p:cNvSpPr/>
          <p:nvPr/>
        </p:nvSpPr>
        <p:spPr>
          <a:xfrm>
            <a:off x="4064000" y="0"/>
            <a:ext cx="4064000" cy="76000"/>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5" name="Shape"/>
          <p:cNvSpPr/>
          <p:nvPr/>
        </p:nvSpPr>
        <p:spPr>
          <a:xfrm>
            <a:off x="8128000" y="0"/>
            <a:ext cx="4064001" cy="76000"/>
          </a:xfrm>
          <a:prstGeom prst="rect">
            <a:avLst/>
          </a:prstGeom>
          <a:solidFill>
            <a:srgbClr val="ED2939"/>
          </a:solidFill>
          <a:ln w="6350">
            <a:solidFill>
              <a:srgbClr val="ED2939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620000" y="30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100" b="1">
                <a:solidFill>
                  <a:srgbClr val="6B6358"/>
                </a:solidFill>
                <a:latin typeface="Aptos"/>
              </a:rPr>
              <a:t xml:space="preserve">TAKEAWAY  /  FROM ARCHIVE TO ANALYSIS</a:t>
            </a:r>
            <a:endParaRPr lang="en-US" sz="1100"/>
          </a:p>
        </p:txBody>
      </p:sp>
      <p:sp>
        <p:nvSpPr>
          <p:cNvPr id="7" name="Shape"/>
          <p:cNvSpPr/>
          <p:nvPr/>
        </p:nvSpPr>
        <p:spPr>
          <a:xfrm>
            <a:off x="0" y="0"/>
            <a:ext cx="12192000" cy="110000"/>
          </a:xfrm>
          <a:prstGeom prst="rect">
            <a:avLst/>
          </a:prstGeom>
          <a:solidFill>
            <a:srgbClr val="FAE042"/>
          </a:solidFill>
          <a:ln w="6350">
            <a:solidFill>
              <a:srgbClr val="FAE042"/>
            </a:solidFill>
          </a:ln>
        </p:spPr>
      </p:sp>
      <p:sp>
        <p:nvSpPr>
          <p:cNvPr id="8" name="Text"/>
          <p:cNvSpPr txBox="1"/>
          <p:nvPr/>
        </p:nvSpPr>
        <p:spPr>
          <a:xfrm>
            <a:off x="850000" y="900000"/>
            <a:ext cx="1050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3000" b="1">
                <a:solidFill>
                  <a:srgbClr val="FAE042"/>
                </a:solidFill>
                <a:latin typeface="Aptos Display"/>
              </a:rPr>
              <a:t xml:space="preserve">A reusable foundation for editorial discovery</a:t>
            </a:r>
            <a:endParaRPr lang="en-US" sz="3000"/>
          </a:p>
        </p:txBody>
      </p:sp>
      <p:sp>
        <p:nvSpPr>
          <p:cNvPr id="9" name="Text"/>
          <p:cNvSpPr txBox="1"/>
          <p:nvPr/>
        </p:nvSpPr>
        <p:spPr>
          <a:xfrm>
            <a:off x="850000" y="1900000"/>
            <a:ext cx="1030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3400" b="1">
                <a:solidFill>
                  <a:srgbClr val="FFFFFF"/>
                </a:solidFill>
                <a:latin typeface="Aptos Display"/>
              </a:rPr>
              <a:t xml:space="preserve">2,123 articles.</a:t>
            </a:r>
            <a:endParaRPr lang="en-US" sz="3400"/>
          </a:p>
          <a:p>
            <a:pPr algn="l"/>
            <a:r>
              <a:rPr lang="en-US" sz="3400" b="1">
                <a:solidFill>
                  <a:srgbClr val="FFFFFF"/>
                </a:solidFill>
                <a:latin typeface="Aptos Display"/>
              </a:rPr>
              <a:t xml:space="preserve">37 semantic topics.</a:t>
            </a:r>
            <a:endParaRPr lang="en-US" sz="3400"/>
          </a:p>
          <a:p>
            <a:pPr algn="l"/>
            <a:r>
              <a:rPr lang="en-US" sz="3400" b="1">
                <a:solidFill>
                  <a:srgbClr val="FFFFFF"/>
                </a:solidFill>
                <a:latin typeface="Aptos Display"/>
              </a:rPr>
              <a:t xml:space="preserve">One explorable map.</a:t>
            </a:r>
            <a:endParaRPr lang="en-US" sz="3400"/>
          </a:p>
        </p:txBody>
      </p:sp>
      <p:sp>
        <p:nvSpPr>
          <p:cNvPr id="10" name="Shape"/>
          <p:cNvSpPr/>
          <p:nvPr/>
        </p:nvSpPr>
        <p:spPr>
          <a:xfrm>
            <a:off x="850000" y="3800000"/>
            <a:ext cx="10500000" cy="1200000"/>
          </a:xfrm>
          <a:prstGeom prst="roundRect">
            <a:avLst/>
          </a:prstGeom>
          <a:solidFill>
            <a:srgbClr val="292929"/>
          </a:solidFill>
          <a:ln w="6350">
            <a:solidFill>
              <a:srgbClr val="292929"/>
            </a:solidFill>
          </a:ln>
        </p:spPr>
      </p:sp>
      <p:sp>
        <p:nvSpPr>
          <p:cNvPr id="11" name="Text"/>
          <p:cNvSpPr txBox="1"/>
          <p:nvPr/>
        </p:nvSpPr>
        <p:spPr>
          <a:xfrm>
            <a:off x="1100000" y="3990000"/>
            <a:ext cx="99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750" b="0">
                <a:solidFill>
                  <a:srgbClr val="FFFFFF"/>
                </a:solidFill>
                <a:latin typeface="Aptos"/>
              </a:rPr>
              <a:t xml:space="preserve">Next step  →  Review the 623 unassigned articles, refine labels with domain experts, then rerun and compare topic trends.</a:t>
            </a:r>
            <a:endParaRPr lang="en-US" sz="1750"/>
          </a:p>
        </p:txBody>
      </p:sp>
      <p:sp>
        <p:nvSpPr>
          <p:cNvPr id="12" name="Text"/>
          <p:cNvSpPr txBox="1"/>
          <p:nvPr/>
        </p:nvSpPr>
        <p:spPr>
          <a:xfrm>
            <a:off x="850000" y="5900000"/>
            <a:ext cx="9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150" b="0">
                <a:solidFill>
                  <a:srgbClr val="BDB7A9"/>
                </a:solidFill>
                <a:latin typeface="Aptos"/>
              </a:rPr>
              <a:t xml:space="preserve">RTBF Coverage Intelligence  ·  Project sprint presentation</a:t>
            </a:r>
            <a:endParaRPr lang="en-US" sz="1150"/>
          </a:p>
        </p:txBody>
      </p:sp>
    </p:spTree>
  </p:cSld>
  <p:clrMapOvr>
    <a:masterClrMapping/>
  </p:clrMapOvr>
</p:sld>
</file>